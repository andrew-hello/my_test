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49" r:id="rId2"/>
    <p:sldId id="347" r:id="rId3"/>
    <p:sldId id="1290" r:id="rId4"/>
    <p:sldId id="1541" r:id="rId5"/>
    <p:sldId id="1499" r:id="rId6"/>
    <p:sldId id="1500" r:id="rId7"/>
    <p:sldId id="1359" r:id="rId8"/>
    <p:sldId id="618" r:id="rId9"/>
    <p:sldId id="1401" r:id="rId10"/>
    <p:sldId id="1462" r:id="rId11"/>
    <p:sldId id="1427" r:id="rId12"/>
    <p:sldId id="1501" r:id="rId13"/>
    <p:sldId id="1476" r:id="rId14"/>
    <p:sldId id="1478" r:id="rId15"/>
    <p:sldId id="1479" r:id="rId16"/>
    <p:sldId id="1547" r:id="rId17"/>
    <p:sldId id="1548" r:id="rId18"/>
    <p:sldId id="1420" r:id="rId19"/>
    <p:sldId id="1403" r:id="rId20"/>
    <p:sldId id="1503" r:id="rId21"/>
    <p:sldId id="1546" r:id="rId22"/>
    <p:sldId id="1357" r:id="rId23"/>
    <p:sldId id="348" r:id="rId24"/>
    <p:sldId id="288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w Meng" initials="AM" lastIdx="1" clrIdx="0">
    <p:extLst>
      <p:ext uri="{19B8F6BF-5375-455C-9EA6-DF929625EA0E}">
        <p15:presenceInfo xmlns:p15="http://schemas.microsoft.com/office/powerpoint/2012/main" userId="Andrew Me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45664"/>
    <a:srgbClr val="F2F2F2"/>
    <a:srgbClr val="F1F0F4"/>
    <a:srgbClr val="18A1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80" autoAdjust="0"/>
    <p:restoredTop sz="94842" autoAdjust="0"/>
  </p:normalViewPr>
  <p:slideViewPr>
    <p:cSldViewPr snapToGrid="0">
      <p:cViewPr varScale="1">
        <p:scale>
          <a:sx n="91" d="100"/>
          <a:sy n="91" d="100"/>
        </p:scale>
        <p:origin x="69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55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DAF34-7A77-4998-9ABB-06C215B9F1FE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5B44C2-B7B0-4EF6-A5ED-F9F8999546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734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4673CA-537C-4381-921A-284D0C8401B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684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合作者动画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B44C2-B7B0-4EF6-A5ED-F9F8999546B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044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1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70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862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454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725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236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773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240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710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03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559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>
            <a:spLocks noGrp="1"/>
          </p:cNvSpPr>
          <p:nvPr>
            <p:ph type="title"/>
          </p:nvPr>
        </p:nvSpPr>
        <p:spPr>
          <a:xfrm>
            <a:off x="1190627" y="4723808"/>
            <a:ext cx="9810751" cy="1000125"/>
          </a:xfrm>
          <a:prstGeom prst="rect">
            <a:avLst/>
          </a:prstGeom>
        </p:spPr>
        <p:txBody>
          <a:bodyPr anchor="b"/>
          <a:lstStyle/>
          <a:p>
            <a:pPr lvl="0">
              <a:defRPr sz="1800"/>
            </a:pPr>
            <a:r>
              <a:rPr sz="5625"/>
              <a:t>标题文本</a:t>
            </a:r>
          </a:p>
        </p:txBody>
      </p:sp>
      <p:sp>
        <p:nvSpPr>
          <p:cNvPr id="9" name="Shape 9"/>
          <p:cNvSpPr>
            <a:spLocks noGrp="1"/>
          </p:cNvSpPr>
          <p:nvPr>
            <p:ph type="body" idx="1"/>
          </p:nvPr>
        </p:nvSpPr>
        <p:spPr>
          <a:xfrm>
            <a:off x="1190627" y="5759649"/>
            <a:ext cx="9810751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516"/>
            </a:lvl1pPr>
            <a:lvl2pPr marL="0" indent="160729" algn="ctr">
              <a:spcBef>
                <a:spcPts val="0"/>
              </a:spcBef>
              <a:buSzTx/>
              <a:buNone/>
              <a:defRPr sz="3516"/>
            </a:lvl2pPr>
            <a:lvl3pPr marL="0" indent="321457" algn="ctr">
              <a:spcBef>
                <a:spcPts val="0"/>
              </a:spcBef>
              <a:buSzTx/>
              <a:buNone/>
              <a:defRPr sz="3516"/>
            </a:lvl3pPr>
            <a:lvl4pPr marL="0" indent="482186" algn="ctr">
              <a:spcBef>
                <a:spcPts val="0"/>
              </a:spcBef>
              <a:buSzTx/>
              <a:buNone/>
              <a:defRPr sz="3516"/>
            </a:lvl4pPr>
            <a:lvl5pPr marL="0" indent="642915" algn="ctr">
              <a:spcBef>
                <a:spcPts val="0"/>
              </a:spcBef>
              <a:buSzTx/>
              <a:buNone/>
              <a:defRPr sz="3516"/>
            </a:lvl5pPr>
          </a:lstStyle>
          <a:p>
            <a:pPr lvl="0">
              <a:defRPr sz="1800"/>
            </a:pPr>
            <a:r>
              <a:rPr sz="3516"/>
              <a:t>正文级别 1</a:t>
            </a:r>
          </a:p>
          <a:p>
            <a:pPr lvl="1">
              <a:defRPr sz="1800"/>
            </a:pPr>
            <a:r>
              <a:rPr sz="3516"/>
              <a:t>正文级别 2</a:t>
            </a:r>
          </a:p>
          <a:p>
            <a:pPr lvl="2">
              <a:defRPr sz="1800"/>
            </a:pPr>
            <a:r>
              <a:rPr sz="3516"/>
              <a:t>正文级别 3</a:t>
            </a:r>
          </a:p>
          <a:p>
            <a:pPr lvl="3">
              <a:defRPr sz="1800"/>
            </a:pPr>
            <a:r>
              <a:rPr sz="3516"/>
              <a:t>正文级别 4</a:t>
            </a:r>
          </a:p>
          <a:p>
            <a:pPr lvl="4">
              <a:defRPr sz="1800"/>
            </a:pPr>
            <a:r>
              <a:rPr sz="3516"/>
              <a:t>正文级别 5</a:t>
            </a:r>
          </a:p>
        </p:txBody>
      </p:sp>
    </p:spTree>
    <p:extLst>
      <p:ext uri="{BB962C8B-B14F-4D97-AF65-F5344CB8AC3E}">
        <p14:creationId xmlns:p14="http://schemas.microsoft.com/office/powerpoint/2010/main" val="226903589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3B2D4-76F6-4FA9-934E-C452DA5AED85}" type="datetimeFigureOut">
              <a:rPr lang="zh-CN" altLang="en-US" smtClean="0"/>
              <a:t>2026-09-05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06449-667C-474D-BDC4-7208F57CF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021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w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jpeg"/><Relationship Id="rId7" Type="http://schemas.openxmlformats.org/officeDocument/2006/relationships/image" Target="../media/image4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gif"/><Relationship Id="rId9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eg"/><Relationship Id="rId13" Type="http://schemas.openxmlformats.org/officeDocument/2006/relationships/image" Target="../media/image57.jpeg"/><Relationship Id="rId3" Type="http://schemas.openxmlformats.org/officeDocument/2006/relationships/image" Target="../media/image47.jpeg"/><Relationship Id="rId7" Type="http://schemas.openxmlformats.org/officeDocument/2006/relationships/image" Target="../media/image51.jpeg"/><Relationship Id="rId12" Type="http://schemas.openxmlformats.org/officeDocument/2006/relationships/image" Target="../media/image5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eg"/><Relationship Id="rId11" Type="http://schemas.openxmlformats.org/officeDocument/2006/relationships/image" Target="../media/image55.jpeg"/><Relationship Id="rId5" Type="http://schemas.openxmlformats.org/officeDocument/2006/relationships/image" Target="../media/image49.jpeg"/><Relationship Id="rId10" Type="http://schemas.openxmlformats.org/officeDocument/2006/relationships/image" Target="../media/image54.jpeg"/><Relationship Id="rId4" Type="http://schemas.openxmlformats.org/officeDocument/2006/relationships/image" Target="../media/image48.jpeg"/><Relationship Id="rId9" Type="http://schemas.openxmlformats.org/officeDocument/2006/relationships/image" Target="../media/image53.jpeg"/><Relationship Id="rId1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microsoft.com/office/2007/relationships/hdphoto" Target="../media/hdphoto2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4.jpeg"/><Relationship Id="rId7" Type="http://schemas.openxmlformats.org/officeDocument/2006/relationships/image" Target="../media/image69.png"/><Relationship Id="rId2" Type="http://schemas.openxmlformats.org/officeDocument/2006/relationships/hyperlink" Target="sprDiagram.avi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jpg"/><Relationship Id="rId4" Type="http://schemas.openxmlformats.org/officeDocument/2006/relationships/image" Target="../media/image66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23849"/>
            <a:ext cx="10515600" cy="55245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报告内容（功能注释 部分）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417" y="4122819"/>
            <a:ext cx="2820604" cy="166149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013" y="4122819"/>
            <a:ext cx="3119128" cy="167515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2133" y="4122819"/>
            <a:ext cx="2797125" cy="168205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8" name="文本框 27"/>
          <p:cNvSpPr txBox="1"/>
          <p:nvPr/>
        </p:nvSpPr>
        <p:spPr>
          <a:xfrm>
            <a:off x="3614591" y="5850313"/>
            <a:ext cx="16065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Molecular Function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725142" y="5850312"/>
            <a:ext cx="1564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Process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706934" y="5850311"/>
            <a:ext cx="1646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Cellular Component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059133" y="5850313"/>
            <a:ext cx="1138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 Class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825" y="1317027"/>
            <a:ext cx="11277969" cy="236506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93" y="4122820"/>
            <a:ext cx="2795532" cy="166149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3001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23849"/>
            <a:ext cx="10515600" cy="552451"/>
          </a:xfrm>
        </p:spPr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报告内容（原始数据 部分）</a:t>
            </a:r>
          </a:p>
        </p:txBody>
      </p:sp>
      <p:sp>
        <p:nvSpPr>
          <p:cNvPr id="16" name="矩形 15"/>
          <p:cNvSpPr/>
          <p:nvPr/>
        </p:nvSpPr>
        <p:spPr>
          <a:xfrm>
            <a:off x="838200" y="1444945"/>
            <a:ext cx="27350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RawData1. SPR Raw Output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777" y="1889875"/>
            <a:ext cx="3744811" cy="379882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02" y="1889875"/>
            <a:ext cx="3744811" cy="379882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1" name="矩形 20"/>
          <p:cNvSpPr/>
          <p:nvPr/>
        </p:nvSpPr>
        <p:spPr>
          <a:xfrm>
            <a:off x="4774030" y="1444945"/>
            <a:ext cx="26564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RawData2. 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Output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445564" y="1444945"/>
            <a:ext cx="30282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RawData3. Function Annotation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257777" y="5688701"/>
            <a:ext cx="390617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/>
              <a:t>#</a:t>
            </a:r>
            <a:r>
              <a:rPr lang="zh-CN" altLang="en-US" sz="1050" dirty="0"/>
              <a:t>示例：https://</a:t>
            </a:r>
            <a:r>
              <a:rPr lang="zh-CN" altLang="en-US" sz="1050" b="1" dirty="0"/>
              <a:t>eyun</a:t>
            </a:r>
            <a:r>
              <a:rPr lang="zh-CN" altLang="en-US" sz="1050" dirty="0"/>
              <a:t>.baidu.com/s/3ggUkt5</a:t>
            </a:r>
            <a:r>
              <a:rPr lang="en-US" altLang="zh-CN" sz="1050" dirty="0"/>
              <a:t>9 </a:t>
            </a:r>
            <a:r>
              <a:rPr lang="zh-CN" altLang="en-US" sz="1050" dirty="0"/>
              <a:t>密码：</a:t>
            </a:r>
            <a:r>
              <a:rPr lang="en-US" altLang="zh-CN" sz="1050" dirty="0"/>
              <a:t>******</a:t>
            </a:r>
            <a:endParaRPr lang="zh-CN" altLang="en-US" sz="105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952" y="1889876"/>
            <a:ext cx="3623122" cy="379882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3" name="矩形 12"/>
          <p:cNvSpPr/>
          <p:nvPr/>
        </p:nvSpPr>
        <p:spPr>
          <a:xfrm>
            <a:off x="351602" y="5688701"/>
            <a:ext cx="390617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/>
              <a:t># Raw Value Record</a:t>
            </a:r>
            <a:endParaRPr lang="zh-CN" altLang="en-US" sz="1050" dirty="0"/>
          </a:p>
        </p:txBody>
      </p:sp>
      <p:sp>
        <p:nvSpPr>
          <p:cNvPr id="14" name="矩形 13"/>
          <p:cNvSpPr/>
          <p:nvPr/>
        </p:nvSpPr>
        <p:spPr>
          <a:xfrm>
            <a:off x="8163952" y="5688701"/>
            <a:ext cx="390617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/>
              <a:t># Database</a:t>
            </a:r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706889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36" name="组合 9235"/>
          <p:cNvGrpSpPr/>
          <p:nvPr/>
        </p:nvGrpSpPr>
        <p:grpSpPr>
          <a:xfrm>
            <a:off x="1319701" y="1361795"/>
            <a:ext cx="3594100" cy="4717518"/>
            <a:chOff x="1387434" y="1461340"/>
            <a:chExt cx="3594100" cy="4717518"/>
          </a:xfrm>
        </p:grpSpPr>
        <p:pic>
          <p:nvPicPr>
            <p:cNvPr id="9218" name="Picture 2" descr="图1 在芯片上固定小分子的设计图纸及在线扫描图像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7434" y="1461340"/>
              <a:ext cx="3594100" cy="2219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20" name="Picture 4" descr="图2 在芯片上固定小分子的在线扫描图像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7434" y="3816658"/>
              <a:ext cx="3594100" cy="2362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3" name="图片 12"/>
          <p:cNvPicPr/>
          <p:nvPr/>
        </p:nvPicPr>
        <p:blipFill>
          <a:blip r:embed="rId4"/>
          <a:stretch>
            <a:fillRect/>
          </a:stretch>
        </p:blipFill>
        <p:spPr>
          <a:xfrm>
            <a:off x="5413710" y="3907377"/>
            <a:ext cx="2936573" cy="207277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5693" y="1459484"/>
            <a:ext cx="2938946" cy="225762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8470" y="1459484"/>
            <a:ext cx="2938946" cy="2257629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7"/>
          <a:stretch>
            <a:fillRect/>
          </a:stretch>
        </p:blipFill>
        <p:spPr>
          <a:xfrm>
            <a:off x="8486824" y="3854109"/>
            <a:ext cx="2896683" cy="2225204"/>
          </a:xfrm>
          <a:prstGeom prst="rect">
            <a:avLst/>
          </a:prstGeom>
        </p:spPr>
      </p:pic>
      <p:cxnSp>
        <p:nvCxnSpPr>
          <p:cNvPr id="16" name="直接连接符 15"/>
          <p:cNvCxnSpPr/>
          <p:nvPr/>
        </p:nvCxnSpPr>
        <p:spPr>
          <a:xfrm>
            <a:off x="5338470" y="3655713"/>
            <a:ext cx="5859560" cy="0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8500280" y="3787312"/>
            <a:ext cx="0" cy="258030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5163755" y="1349492"/>
            <a:ext cx="0" cy="5018124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221" name="矩形 9220"/>
          <p:cNvSpPr/>
          <p:nvPr/>
        </p:nvSpPr>
        <p:spPr>
          <a:xfrm>
            <a:off x="8761828" y="5980153"/>
            <a:ext cx="270458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/>
              <a:t>QA5</a:t>
            </a:r>
            <a:r>
              <a:rPr lang="zh-CN" altLang="en-US" b="1" dirty="0"/>
              <a:t>：载量及质谱</a:t>
            </a:r>
            <a:endParaRPr lang="en-US" altLang="zh-CN" b="1" dirty="0"/>
          </a:p>
          <a:p>
            <a:pPr algn="ctr"/>
            <a:r>
              <a:rPr lang="zh-CN" altLang="en-US" sz="1200" b="1" dirty="0"/>
              <a:t>（</a:t>
            </a:r>
            <a:r>
              <a:rPr lang="en-US" altLang="zh-CN" sz="1200" b="1" dirty="0"/>
              <a:t>Filter: &gt;550 RU per kilo-</a:t>
            </a:r>
            <a:r>
              <a:rPr lang="en-US" altLang="zh-CN" sz="1200" b="1" dirty="0" err="1"/>
              <a:t>pMSMs</a:t>
            </a:r>
            <a:r>
              <a:rPr lang="zh-CN" altLang="en-US" sz="1200" b="1" dirty="0"/>
              <a:t>）</a:t>
            </a:r>
            <a:endParaRPr lang="en-US" altLang="zh-CN" sz="1200" b="1" dirty="0"/>
          </a:p>
        </p:txBody>
      </p:sp>
      <p:sp>
        <p:nvSpPr>
          <p:cNvPr id="9223" name="矩形 9222"/>
          <p:cNvSpPr/>
          <p:nvPr/>
        </p:nvSpPr>
        <p:spPr>
          <a:xfrm>
            <a:off x="492330" y="1986874"/>
            <a:ext cx="85383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QA1</a:t>
            </a:r>
          </a:p>
          <a:p>
            <a:pPr algn="ctr"/>
            <a:r>
              <a:rPr lang="zh-CN" altLang="en-US" b="1" dirty="0"/>
              <a:t>：</a:t>
            </a:r>
            <a:endParaRPr lang="en-US" altLang="zh-CN" b="1" dirty="0"/>
          </a:p>
          <a:p>
            <a:pPr algn="ctr"/>
            <a:r>
              <a:rPr lang="zh-CN" altLang="en-US" b="1" dirty="0"/>
              <a:t>点</a:t>
            </a:r>
            <a:endParaRPr lang="en-US" altLang="zh-CN" b="1" dirty="0"/>
          </a:p>
          <a:p>
            <a:pPr algn="ctr"/>
            <a:r>
              <a:rPr lang="zh-CN" altLang="en-US" b="1" dirty="0"/>
              <a:t>样</a:t>
            </a:r>
            <a:endParaRPr lang="en-US" altLang="zh-CN" b="1" dirty="0"/>
          </a:p>
          <a:p>
            <a:pPr algn="ctr"/>
            <a:r>
              <a:rPr lang="en-US" altLang="zh-CN" b="1" dirty="0"/>
              <a:t>l</a:t>
            </a:r>
          </a:p>
          <a:p>
            <a:pPr algn="ctr"/>
            <a:r>
              <a:rPr lang="en-US" altLang="zh-CN" b="1" dirty="0"/>
              <a:t>l</a:t>
            </a:r>
          </a:p>
          <a:p>
            <a:pPr algn="ctr"/>
            <a:r>
              <a:rPr lang="zh-CN" altLang="en-US" b="1" dirty="0"/>
              <a:t>设</a:t>
            </a:r>
            <a:endParaRPr lang="en-US" altLang="zh-CN" b="1" dirty="0"/>
          </a:p>
          <a:p>
            <a:pPr algn="ctr"/>
            <a:r>
              <a:rPr lang="zh-CN" altLang="en-US" b="1" dirty="0"/>
              <a:t>备</a:t>
            </a:r>
            <a:endParaRPr lang="en-US" altLang="zh-CN" b="1" dirty="0"/>
          </a:p>
          <a:p>
            <a:pPr algn="ctr"/>
            <a:r>
              <a:rPr lang="zh-CN" altLang="en-US" b="1" dirty="0"/>
              <a:t>可</a:t>
            </a:r>
            <a:endParaRPr lang="en-US" altLang="zh-CN" b="1" dirty="0"/>
          </a:p>
          <a:p>
            <a:pPr algn="ctr"/>
            <a:r>
              <a:rPr lang="zh-CN" altLang="en-US" b="1" dirty="0"/>
              <a:t>视</a:t>
            </a:r>
            <a:endParaRPr lang="en-US" altLang="zh-CN" b="1" dirty="0"/>
          </a:p>
          <a:p>
            <a:pPr algn="ctr"/>
            <a:r>
              <a:rPr lang="zh-CN" altLang="en-US" b="1" dirty="0"/>
              <a:t>监</a:t>
            </a:r>
            <a:endParaRPr lang="en-US" altLang="zh-CN" b="1" dirty="0"/>
          </a:p>
          <a:p>
            <a:pPr algn="ctr"/>
            <a:r>
              <a:rPr lang="zh-CN" altLang="en-US" b="1" dirty="0"/>
              <a:t>控</a:t>
            </a:r>
            <a:endParaRPr lang="en-US" altLang="zh-CN" b="1" dirty="0"/>
          </a:p>
        </p:txBody>
      </p:sp>
      <p:sp>
        <p:nvSpPr>
          <p:cNvPr id="9225" name="矩形 9224"/>
          <p:cNvSpPr/>
          <p:nvPr/>
        </p:nvSpPr>
        <p:spPr>
          <a:xfrm>
            <a:off x="5916513" y="5998284"/>
            <a:ext cx="17828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QA4</a:t>
            </a:r>
            <a:r>
              <a:rPr lang="zh-CN" altLang="en-US" b="1" dirty="0"/>
              <a:t>：系统对照</a:t>
            </a:r>
            <a:endParaRPr lang="en-US" altLang="zh-CN" b="1" dirty="0"/>
          </a:p>
        </p:txBody>
      </p:sp>
      <p:sp>
        <p:nvSpPr>
          <p:cNvPr id="43" name="矩形 42"/>
          <p:cNvSpPr/>
          <p:nvPr/>
        </p:nvSpPr>
        <p:spPr>
          <a:xfrm>
            <a:off x="5501062" y="1192627"/>
            <a:ext cx="27061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QA2</a:t>
            </a:r>
            <a:r>
              <a:rPr lang="zh-CN" altLang="en-US" b="1" dirty="0"/>
              <a:t>：浓度梯度（平行）</a:t>
            </a:r>
          </a:p>
        </p:txBody>
      </p:sp>
      <p:sp>
        <p:nvSpPr>
          <p:cNvPr id="44" name="矩形 43"/>
          <p:cNvSpPr/>
          <p:nvPr/>
        </p:nvSpPr>
        <p:spPr>
          <a:xfrm>
            <a:off x="9150330" y="1192627"/>
            <a:ext cx="17828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QA3</a:t>
            </a:r>
            <a:r>
              <a:rPr lang="zh-CN" altLang="en-US" b="1" dirty="0"/>
              <a:t>：阴性对照</a:t>
            </a:r>
          </a:p>
        </p:txBody>
      </p:sp>
      <p:cxnSp>
        <p:nvCxnSpPr>
          <p:cNvPr id="45" name="直接连接符 44"/>
          <p:cNvCxnSpPr/>
          <p:nvPr/>
        </p:nvCxnSpPr>
        <p:spPr>
          <a:xfrm>
            <a:off x="8500280" y="1349492"/>
            <a:ext cx="0" cy="2189289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标题 1">
            <a:extLst>
              <a:ext uri="{FF2B5EF4-FFF2-40B4-BE49-F238E27FC236}">
                <a16:creationId xmlns:a16="http://schemas.microsoft.com/office/drawing/2014/main" id="{AEB3EF5B-FDDE-423B-8A67-0945B33FB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3849"/>
            <a:ext cx="10515600" cy="552451"/>
          </a:xfrm>
        </p:spPr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质控手段</a:t>
            </a:r>
          </a:p>
        </p:txBody>
      </p:sp>
    </p:spTree>
    <p:extLst>
      <p:ext uri="{BB962C8B-B14F-4D97-AF65-F5344CB8AC3E}">
        <p14:creationId xmlns:p14="http://schemas.microsoft.com/office/powerpoint/2010/main" val="4212269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638BB36-68F9-493E-8C78-B275774FB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31165"/>
              </p:ext>
            </p:extLst>
          </p:nvPr>
        </p:nvGraphicFramePr>
        <p:xfrm>
          <a:off x="1188697" y="4845948"/>
          <a:ext cx="10087757" cy="1499251"/>
        </p:xfrm>
        <a:graphic>
          <a:graphicData uri="http://schemas.openxmlformats.org/drawingml/2006/table">
            <a:tbl>
              <a:tblPr/>
              <a:tblGrid>
                <a:gridCol w="1248592">
                  <a:extLst>
                    <a:ext uri="{9D8B030D-6E8A-4147-A177-3AD203B41FA5}">
                      <a16:colId xmlns:a16="http://schemas.microsoft.com/office/drawing/2014/main" val="1674506474"/>
                    </a:ext>
                  </a:extLst>
                </a:gridCol>
                <a:gridCol w="1029541">
                  <a:extLst>
                    <a:ext uri="{9D8B030D-6E8A-4147-A177-3AD203B41FA5}">
                      <a16:colId xmlns:a16="http://schemas.microsoft.com/office/drawing/2014/main" val="2909745317"/>
                    </a:ext>
                  </a:extLst>
                </a:gridCol>
                <a:gridCol w="1029541">
                  <a:extLst>
                    <a:ext uri="{9D8B030D-6E8A-4147-A177-3AD203B41FA5}">
                      <a16:colId xmlns:a16="http://schemas.microsoft.com/office/drawing/2014/main" val="1274550359"/>
                    </a:ext>
                  </a:extLst>
                </a:gridCol>
                <a:gridCol w="1579309">
                  <a:extLst>
                    <a:ext uri="{9D8B030D-6E8A-4147-A177-3AD203B41FA5}">
                      <a16:colId xmlns:a16="http://schemas.microsoft.com/office/drawing/2014/main" val="2594314815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592219366"/>
                    </a:ext>
                  </a:extLst>
                </a:gridCol>
                <a:gridCol w="1285240">
                  <a:extLst>
                    <a:ext uri="{9D8B030D-6E8A-4147-A177-3AD203B41FA5}">
                      <a16:colId xmlns:a16="http://schemas.microsoft.com/office/drawing/2014/main" val="1679242956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004793957"/>
                    </a:ext>
                  </a:extLst>
                </a:gridCol>
                <a:gridCol w="1106294">
                  <a:extLst>
                    <a:ext uri="{9D8B030D-6E8A-4147-A177-3AD203B41FA5}">
                      <a16:colId xmlns:a16="http://schemas.microsoft.com/office/drawing/2014/main" val="3792955398"/>
                    </a:ext>
                  </a:extLst>
                </a:gridCol>
              </a:tblGrid>
              <a:tr h="44602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　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引入标记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反应载体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除杂方式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靶向的实质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结果范围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避免竞争结合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费用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1468083"/>
                  </a:ext>
                </a:extLst>
              </a:tr>
              <a:tr h="52661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SPR-LCMS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无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固相芯片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亲和预洗涤 </a:t>
                      </a:r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zh-CN" altLang="en-US" sz="15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自动</a:t>
                      </a:r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)</a:t>
                      </a:r>
                      <a:endParaRPr lang="zh-CN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Dengxian" panose="02010600030101010101" pitchFamily="2" charset="-122"/>
                      </a:endParaRP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完整蛋白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仅蛋白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实时监控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1" i="0" u="none" strike="noStrike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2.4~2.8w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0850297"/>
                  </a:ext>
                </a:extLst>
              </a:tr>
              <a:tr h="52661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DARTS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无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无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跑胶 </a:t>
                      </a:r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zh-CN" alt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肉眼</a:t>
                      </a:r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) </a:t>
                      </a:r>
                      <a:r>
                        <a:rPr lang="zh-CN" alt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或无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酶解后肽段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酶解后肽段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否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Dengxian" panose="02010600030101010101" pitchFamily="2" charset="-122"/>
                        </a:rPr>
                        <a:t>3.0~4.2w</a:t>
                      </a:r>
                    </a:p>
                  </a:txBody>
                  <a:tcPr marL="10299" marR="10299" marT="1029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438559"/>
                  </a:ext>
                </a:extLst>
              </a:tr>
            </a:tbl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7D172B85-E033-48C1-9899-ADC46B699E3A}"/>
              </a:ext>
            </a:extLst>
          </p:cNvPr>
          <p:cNvGrpSpPr/>
          <p:nvPr/>
        </p:nvGrpSpPr>
        <p:grpSpPr>
          <a:xfrm>
            <a:off x="685799" y="918173"/>
            <a:ext cx="10941504" cy="3878698"/>
            <a:chOff x="685799" y="902933"/>
            <a:chExt cx="10941504" cy="387869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2F310D7-E9BC-45B4-B10E-2685AB5499CC}"/>
                </a:ext>
              </a:extLst>
            </p:cNvPr>
            <p:cNvGrpSpPr/>
            <p:nvPr/>
          </p:nvGrpSpPr>
          <p:grpSpPr>
            <a:xfrm>
              <a:off x="685800" y="902933"/>
              <a:ext cx="10941503" cy="3521566"/>
              <a:chOff x="685800" y="709893"/>
              <a:chExt cx="10941503" cy="3521566"/>
            </a:xfrm>
          </p:grpSpPr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0FF34655-BDEE-4AD2-92CA-6F30006B23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10" t="74147" r="9858"/>
              <a:stretch/>
            </p:blipFill>
            <p:spPr>
              <a:xfrm>
                <a:off x="1188697" y="3020394"/>
                <a:ext cx="4659718" cy="1211065"/>
              </a:xfrm>
              <a:prstGeom prst="rect">
                <a:avLst/>
              </a:prstGeom>
            </p:spPr>
          </p:pic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AA858ED8-87BA-4B29-8ECF-D9AE36D7A7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8697" y="1338453"/>
                <a:ext cx="6167418" cy="1115420"/>
              </a:xfrm>
              <a:prstGeom prst="rect">
                <a:avLst/>
              </a:prstGeom>
            </p:spPr>
          </p:pic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DCA7007-992E-4936-8635-DDB18F6B3ABB}"/>
                  </a:ext>
                </a:extLst>
              </p:cNvPr>
              <p:cNvSpPr txBox="1"/>
              <p:nvPr/>
            </p:nvSpPr>
            <p:spPr>
              <a:xfrm>
                <a:off x="685800" y="2675205"/>
                <a:ext cx="101808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/>
                  <a:t>第一代：药物亲和反应靶向稳定性技术服务（</a:t>
                </a:r>
                <a:r>
                  <a:rPr lang="en-US" altLang="zh-CN" sz="1600" b="1" dirty="0"/>
                  <a:t>DARTS</a:t>
                </a:r>
                <a:r>
                  <a:rPr lang="zh-CN" altLang="en-US" sz="1600" b="1" dirty="0"/>
                  <a:t> ，</a:t>
                </a:r>
                <a:r>
                  <a:rPr lang="en-US" altLang="zh-CN" sz="1600" b="1" u="sng" dirty="0"/>
                  <a:t>2009</a:t>
                </a:r>
                <a:r>
                  <a:rPr lang="zh-CN" altLang="en-US" sz="1600" b="1" u="sng" dirty="0"/>
                  <a:t>年面市</a:t>
                </a:r>
                <a:r>
                  <a:rPr lang="zh-CN" altLang="en-US" sz="1600" b="1" dirty="0"/>
                  <a:t>）：</a:t>
                </a: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A1215CA-A88F-4BDD-9137-4665B596D9D3}"/>
                  </a:ext>
                </a:extLst>
              </p:cNvPr>
              <p:cNvSpPr txBox="1"/>
              <p:nvPr/>
            </p:nvSpPr>
            <p:spPr>
              <a:xfrm>
                <a:off x="730820" y="709893"/>
                <a:ext cx="101808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/>
                  <a:t>第二代：基于</a:t>
                </a:r>
                <a:r>
                  <a:rPr lang="en-US" altLang="zh-CN" sz="1600" b="1" dirty="0"/>
                  <a:t>SPR</a:t>
                </a:r>
                <a:r>
                  <a:rPr lang="zh-CN" altLang="en-US" sz="1600" b="1" dirty="0"/>
                  <a:t>的靶标蛋白组学（靶标捕获，</a:t>
                </a:r>
                <a:r>
                  <a:rPr lang="en-US" altLang="zh-CN" sz="1600" b="1" dirty="0"/>
                  <a:t>SPR-LCMS</a:t>
                </a:r>
                <a:r>
                  <a:rPr lang="zh-CN" altLang="en-US" sz="1600" b="1" dirty="0"/>
                  <a:t>，</a:t>
                </a:r>
                <a:r>
                  <a:rPr lang="en-US" altLang="zh-CN" sz="1600" b="1" u="sng" dirty="0"/>
                  <a:t>2015</a:t>
                </a:r>
                <a:r>
                  <a:rPr lang="zh-CN" altLang="en-US" sz="1600" b="1" u="sng" dirty="0"/>
                  <a:t>年面市</a:t>
                </a:r>
                <a:r>
                  <a:rPr lang="zh-CN" altLang="en-US" sz="1600" b="1" dirty="0"/>
                  <a:t>）：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91269C3-E47B-4C17-8D8E-70ACADB9009C}"/>
                  </a:ext>
                </a:extLst>
              </p:cNvPr>
              <p:cNvSpPr txBox="1"/>
              <p:nvPr/>
            </p:nvSpPr>
            <p:spPr>
              <a:xfrm>
                <a:off x="7632300" y="1514511"/>
                <a:ext cx="3995003" cy="672877"/>
              </a:xfrm>
              <a:prstGeom prst="rect">
                <a:avLst/>
              </a:prstGeom>
              <a:ln>
                <a:prstDash val="sysDash"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>
                  <a:lnSpc>
                    <a:spcPct val="122000"/>
                  </a:lnSpc>
                </a:pPr>
                <a:r>
                  <a:rPr lang="en-US" altLang="zh-CN" sz="1600" b="1" dirty="0"/>
                  <a:t>SPR-LCMS</a:t>
                </a:r>
                <a:r>
                  <a:rPr lang="zh-CN" altLang="en-US" sz="1600" b="1" dirty="0"/>
                  <a:t>流程概括：</a:t>
                </a:r>
                <a:endParaRPr lang="en-US" altLang="zh-CN" sz="1600" b="1" dirty="0"/>
              </a:p>
              <a:p>
                <a:pPr algn="ctr">
                  <a:lnSpc>
                    <a:spcPct val="122000"/>
                  </a:lnSpc>
                </a:pPr>
                <a:r>
                  <a:rPr lang="zh-CN" altLang="en-US" sz="1600" b="1" dirty="0"/>
                  <a:t>“芯片打印→捕获→ 洗涤分离→酶解→质谱”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08019C0-3AC1-4E24-85C3-050A4A4CD451}"/>
                  </a:ext>
                </a:extLst>
              </p:cNvPr>
              <p:cNvSpPr txBox="1"/>
              <p:nvPr/>
            </p:nvSpPr>
            <p:spPr>
              <a:xfrm>
                <a:off x="7632299" y="3297591"/>
                <a:ext cx="3995003" cy="672877"/>
              </a:xfrm>
              <a:prstGeom prst="rect">
                <a:avLst/>
              </a:prstGeom>
              <a:ln>
                <a:prstDash val="sysDash"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2000"/>
                  </a:lnSpc>
                </a:pPr>
                <a:r>
                  <a:rPr lang="en-US" altLang="zh-CN" sz="1600" b="1" dirty="0"/>
                  <a:t>DARTS</a:t>
                </a:r>
                <a:r>
                  <a:rPr lang="zh-CN" altLang="en-US" sz="1600" b="1" dirty="0"/>
                  <a:t>流程概括：</a:t>
                </a:r>
                <a:endParaRPr lang="en-US" altLang="zh-CN" sz="1600" b="1" dirty="0"/>
              </a:p>
              <a:p>
                <a:pPr algn="ctr">
                  <a:lnSpc>
                    <a:spcPct val="122000"/>
                  </a:lnSpc>
                </a:pPr>
                <a:r>
                  <a:rPr lang="zh-CN" altLang="en-US" sz="1600" b="1" dirty="0"/>
                  <a:t>“直接酶解→捕获→跑胶分离→质谱”</a:t>
                </a: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61F983E-A34E-4838-A62F-EAE532E4462C}"/>
                </a:ext>
              </a:extLst>
            </p:cNvPr>
            <p:cNvSpPr txBox="1"/>
            <p:nvPr/>
          </p:nvSpPr>
          <p:spPr>
            <a:xfrm>
              <a:off x="685799" y="4443077"/>
              <a:ext cx="101808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/>
                <a:t>★</a:t>
              </a:r>
              <a:r>
                <a:rPr lang="en-US" altLang="zh-CN" sz="1600" b="1" dirty="0"/>
                <a:t> </a:t>
              </a:r>
              <a:r>
                <a:rPr lang="zh-CN" altLang="en-US" sz="1600" b="1" dirty="0"/>
                <a:t>性能对比：</a:t>
              </a:r>
            </a:p>
          </p:txBody>
        </p:sp>
      </p:grpSp>
      <p:sp>
        <p:nvSpPr>
          <p:cNvPr id="23" name="标题 1">
            <a:extLst>
              <a:ext uri="{FF2B5EF4-FFF2-40B4-BE49-F238E27FC236}">
                <a16:creationId xmlns:a16="http://schemas.microsoft.com/office/drawing/2014/main" id="{7D55F5E0-1D82-4E2F-806C-FD9F55885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23" y="209075"/>
            <a:ext cx="10515600" cy="552451"/>
          </a:xfrm>
        </p:spPr>
        <p:txBody>
          <a:bodyPr>
            <a:noAutofit/>
          </a:bodyPr>
          <a:lstStyle/>
          <a:p>
            <a:pPr algn="ctr"/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靶标捕获技术 与前代技术的对比</a:t>
            </a:r>
          </a:p>
        </p:txBody>
      </p:sp>
    </p:spTree>
    <p:extLst>
      <p:ext uri="{BB962C8B-B14F-4D97-AF65-F5344CB8AC3E}">
        <p14:creationId xmlns:p14="http://schemas.microsoft.com/office/powerpoint/2010/main" val="321372556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1657FE06-BFE4-4C36-82E8-B430AB1ADF1B}"/>
              </a:ext>
            </a:extLst>
          </p:cNvPr>
          <p:cNvGrpSpPr/>
          <p:nvPr/>
        </p:nvGrpSpPr>
        <p:grpSpPr>
          <a:xfrm>
            <a:off x="1025929" y="825636"/>
            <a:ext cx="7543802" cy="5504142"/>
            <a:chOff x="2357639" y="-11554"/>
            <a:chExt cx="8803842" cy="6423496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33182E5-5337-46FC-8B94-6BF2C384D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70670" y="-11554"/>
              <a:ext cx="7415163" cy="2899633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F48A951-6FB3-49CD-AE70-515DB0341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7639" y="2942367"/>
              <a:ext cx="3642700" cy="2899633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C6AACCF-264A-4A8F-BA47-D83DF8470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2997200"/>
              <a:ext cx="3661050" cy="3414742"/>
            </a:xfrm>
            <a:prstGeom prst="rect">
              <a:avLst/>
            </a:prstGeom>
          </p:spPr>
        </p:pic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11ABADA2-31B9-41F1-BA27-0441333F8C64}"/>
                </a:ext>
              </a:extLst>
            </p:cNvPr>
            <p:cNvCxnSpPr>
              <a:cxnSpLocks/>
            </p:cNvCxnSpPr>
            <p:nvPr/>
          </p:nvCxnSpPr>
          <p:spPr>
            <a:xfrm>
              <a:off x="6030255" y="3061739"/>
              <a:ext cx="0" cy="32797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5372FBCB-9E0D-4CA6-9652-A8F4D95143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6555" b="83242"/>
            <a:stretch/>
          </p:blipFill>
          <p:spPr>
            <a:xfrm>
              <a:off x="8108651" y="77201"/>
              <a:ext cx="3052830" cy="853310"/>
            </a:xfrm>
            <a:prstGeom prst="rect">
              <a:avLst/>
            </a:prstGeom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3FA0F31-CC0F-AB5D-5D10-9354143C6A6F}"/>
              </a:ext>
            </a:extLst>
          </p:cNvPr>
          <p:cNvGrpSpPr/>
          <p:nvPr/>
        </p:nvGrpSpPr>
        <p:grpSpPr>
          <a:xfrm>
            <a:off x="9301833" y="1014648"/>
            <a:ext cx="2393628" cy="5372295"/>
            <a:chOff x="8985574" y="857630"/>
            <a:chExt cx="2393628" cy="537229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72A5673-2D58-00C9-E4AE-92C0259C58D2}"/>
                </a:ext>
              </a:extLst>
            </p:cNvPr>
            <p:cNvSpPr/>
            <p:nvPr/>
          </p:nvSpPr>
          <p:spPr>
            <a:xfrm>
              <a:off x="8985574" y="3157196"/>
              <a:ext cx="1784027" cy="405945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solidFill>
                    <a:srgbClr val="CC3300"/>
                  </a:solidFill>
                  <a:latin typeface="华文楷体"/>
                  <a:ea typeface="华文楷体"/>
                  <a:cs typeface="华文楷体"/>
                  <a:sym typeface="华文楷体"/>
                </a:rPr>
                <a:t>寻找结合表位</a:t>
              </a:r>
              <a:endParaRPr lang="zh-CN" altLang="en-US" b="1" dirty="0">
                <a:latin typeface="华文楷体"/>
                <a:ea typeface="华文楷体"/>
                <a:cs typeface="华文楷体"/>
                <a:sym typeface="华文楷体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B7F8C82-A340-A536-37F1-F3F2C8CB3A04}"/>
                </a:ext>
              </a:extLst>
            </p:cNvPr>
            <p:cNvSpPr/>
            <p:nvPr/>
          </p:nvSpPr>
          <p:spPr>
            <a:xfrm>
              <a:off x="8985574" y="1974174"/>
              <a:ext cx="1784027" cy="405945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solidFill>
                    <a:srgbClr val="CC3300"/>
                  </a:solidFill>
                  <a:latin typeface="华文楷体"/>
                  <a:ea typeface="华文楷体"/>
                  <a:sym typeface="华文楷体"/>
                </a:rPr>
                <a:t>验证结合</a:t>
              </a:r>
            </a:p>
          </p:txBody>
        </p:sp>
        <p:sp>
          <p:nvSpPr>
            <p:cNvPr id="6" name="下箭头 46">
              <a:extLst>
                <a:ext uri="{FF2B5EF4-FFF2-40B4-BE49-F238E27FC236}">
                  <a16:creationId xmlns:a16="http://schemas.microsoft.com/office/drawing/2014/main" id="{A446234D-3494-CDEA-86CB-465488F283F1}"/>
                </a:ext>
              </a:extLst>
            </p:cNvPr>
            <p:cNvSpPr/>
            <p:nvPr/>
          </p:nvSpPr>
          <p:spPr>
            <a:xfrm>
              <a:off x="9792928" y="2586669"/>
              <a:ext cx="299989" cy="35900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09E215C-205F-C316-6950-F71E2E930E36}"/>
                </a:ext>
              </a:extLst>
            </p:cNvPr>
            <p:cNvSpPr/>
            <p:nvPr/>
          </p:nvSpPr>
          <p:spPr>
            <a:xfrm>
              <a:off x="8985574" y="857630"/>
              <a:ext cx="1784027" cy="405945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solidFill>
                    <a:srgbClr val="CC3300"/>
                  </a:solidFill>
                  <a:latin typeface="华文楷体"/>
                  <a:ea typeface="华文楷体"/>
                  <a:cs typeface="华文楷体"/>
                  <a:sym typeface="华文楷体"/>
                </a:rPr>
                <a:t>靶标捕获</a:t>
              </a:r>
              <a:endParaRPr lang="en-US" altLang="zh-CN" b="1" dirty="0">
                <a:latin typeface="华文楷体"/>
                <a:ea typeface="华文楷体"/>
                <a:cs typeface="华文楷体"/>
              </a:endParaRPr>
            </a:p>
          </p:txBody>
        </p:sp>
        <p:sp>
          <p:nvSpPr>
            <p:cNvPr id="10" name="下箭头 48">
              <a:extLst>
                <a:ext uri="{FF2B5EF4-FFF2-40B4-BE49-F238E27FC236}">
                  <a16:creationId xmlns:a16="http://schemas.microsoft.com/office/drawing/2014/main" id="{6EE7B31F-C1E0-DC18-8F18-ABF862AFBC07}"/>
                </a:ext>
              </a:extLst>
            </p:cNvPr>
            <p:cNvSpPr/>
            <p:nvPr/>
          </p:nvSpPr>
          <p:spPr>
            <a:xfrm>
              <a:off x="9792928" y="1426174"/>
              <a:ext cx="299989" cy="35900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AF12CCE-4247-BFD7-301B-F555C11B90C0}"/>
                </a:ext>
              </a:extLst>
            </p:cNvPr>
            <p:cNvSpPr/>
            <p:nvPr/>
          </p:nvSpPr>
          <p:spPr>
            <a:xfrm>
              <a:off x="8985574" y="4283263"/>
              <a:ext cx="1784027" cy="405945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solidFill>
                    <a:srgbClr val="CC3300"/>
                  </a:solidFill>
                  <a:latin typeface="华文楷体"/>
                  <a:ea typeface="华文楷体"/>
                  <a:cs typeface="华文楷体"/>
                  <a:sym typeface="华文楷体"/>
                </a:rPr>
                <a:t>验证结合表位</a:t>
              </a:r>
              <a:endParaRPr lang="zh-CN" altLang="en-US" b="1" dirty="0">
                <a:latin typeface="华文楷体"/>
                <a:ea typeface="华文楷体"/>
                <a:cs typeface="华文楷体"/>
                <a:sym typeface="华文楷体"/>
              </a:endParaRPr>
            </a:p>
          </p:txBody>
        </p:sp>
        <p:sp>
          <p:nvSpPr>
            <p:cNvPr id="12" name="下箭头 46">
              <a:extLst>
                <a:ext uri="{FF2B5EF4-FFF2-40B4-BE49-F238E27FC236}">
                  <a16:creationId xmlns:a16="http://schemas.microsoft.com/office/drawing/2014/main" id="{59BB78AF-4096-3141-A802-01BACA4493BD}"/>
                </a:ext>
              </a:extLst>
            </p:cNvPr>
            <p:cNvSpPr/>
            <p:nvPr/>
          </p:nvSpPr>
          <p:spPr>
            <a:xfrm>
              <a:off x="9792928" y="3780469"/>
              <a:ext cx="299989" cy="35900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0ED2B6B-C36F-F91D-A1C0-95F22C672C6B}"/>
                </a:ext>
              </a:extLst>
            </p:cNvPr>
            <p:cNvSpPr/>
            <p:nvPr/>
          </p:nvSpPr>
          <p:spPr>
            <a:xfrm>
              <a:off x="10890576" y="3220645"/>
              <a:ext cx="488626" cy="1403141"/>
            </a:xfrm>
            <a:prstGeom prst="rect">
              <a:avLst/>
            </a:prstGeom>
            <a:ln>
              <a:noFill/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solidFill>
                    <a:srgbClr val="CC3300"/>
                  </a:solidFill>
                  <a:latin typeface="华文楷体"/>
                  <a:ea typeface="华文楷体"/>
                  <a:cs typeface="华文楷体"/>
                  <a:sym typeface="华文楷体"/>
                </a:rPr>
                <a:t>构效关系</a:t>
              </a:r>
              <a:endParaRPr lang="zh-CN" altLang="en-US" b="1" dirty="0">
                <a:latin typeface="华文楷体"/>
                <a:ea typeface="华文楷体"/>
                <a:cs typeface="华文楷体"/>
                <a:sym typeface="华文楷体"/>
              </a:endParaRPr>
            </a:p>
          </p:txBody>
        </p:sp>
        <p:sp>
          <p:nvSpPr>
            <p:cNvPr id="14" name="下箭头 46">
              <a:extLst>
                <a:ext uri="{FF2B5EF4-FFF2-40B4-BE49-F238E27FC236}">
                  <a16:creationId xmlns:a16="http://schemas.microsoft.com/office/drawing/2014/main" id="{52F2846A-6E8D-D5FE-6C33-6CC420D0CF98}"/>
                </a:ext>
              </a:extLst>
            </p:cNvPr>
            <p:cNvSpPr/>
            <p:nvPr/>
          </p:nvSpPr>
          <p:spPr>
            <a:xfrm>
              <a:off x="9792928" y="4859596"/>
              <a:ext cx="299989" cy="35900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835B7AA-99B8-8A6E-9AC8-F324AE204122}"/>
                </a:ext>
              </a:extLst>
            </p:cNvPr>
            <p:cNvSpPr/>
            <p:nvPr/>
          </p:nvSpPr>
          <p:spPr>
            <a:xfrm>
              <a:off x="10890576" y="976978"/>
              <a:ext cx="488626" cy="1403141"/>
            </a:xfrm>
            <a:prstGeom prst="rect">
              <a:avLst/>
            </a:prstGeom>
            <a:ln>
              <a:noFill/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solidFill>
                    <a:srgbClr val="CC3300"/>
                  </a:solidFill>
                  <a:latin typeface="华文楷体"/>
                  <a:ea typeface="华文楷体"/>
                  <a:cs typeface="华文楷体"/>
                  <a:sym typeface="华文楷体"/>
                </a:rPr>
                <a:t>药物靶点</a:t>
              </a:r>
              <a:endParaRPr lang="zh-CN" altLang="en-US" b="1" dirty="0">
                <a:latin typeface="华文楷体"/>
                <a:ea typeface="华文楷体"/>
                <a:cs typeface="华文楷体"/>
                <a:sym typeface="华文楷体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939832F-6DD9-4F96-7B57-915528F059FE}"/>
                </a:ext>
              </a:extLst>
            </p:cNvPr>
            <p:cNvSpPr/>
            <p:nvPr/>
          </p:nvSpPr>
          <p:spPr>
            <a:xfrm>
              <a:off x="8985574" y="5388989"/>
              <a:ext cx="1784027" cy="840936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latin typeface="华文楷体"/>
                  <a:ea typeface="华文楷体"/>
                  <a:cs typeface="华文楷体"/>
                  <a:sym typeface="华文楷体"/>
                </a:rPr>
                <a:t>治疗作用及</a:t>
              </a:r>
              <a:endParaRPr lang="en-US" altLang="zh-CN" b="1" dirty="0">
                <a:latin typeface="华文楷体"/>
                <a:ea typeface="华文楷体"/>
                <a:cs typeface="华文楷体"/>
                <a:sym typeface="华文楷体"/>
              </a:endParaRPr>
            </a:p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latin typeface="华文楷体"/>
                  <a:ea typeface="华文楷体"/>
                  <a:cs typeface="华文楷体"/>
                  <a:sym typeface="华文楷体"/>
                </a:rPr>
                <a:t>下游机制</a:t>
              </a:r>
            </a:p>
          </p:txBody>
        </p:sp>
      </p:grpSp>
      <p:sp>
        <p:nvSpPr>
          <p:cNvPr id="20" name="标题 1">
            <a:extLst>
              <a:ext uri="{FF2B5EF4-FFF2-40B4-BE49-F238E27FC236}">
                <a16:creationId xmlns:a16="http://schemas.microsoft.com/office/drawing/2014/main" id="{4896EF89-9F16-999A-936E-3E336B6E264A}"/>
              </a:ext>
            </a:extLst>
          </p:cNvPr>
          <p:cNvSpPr txBox="1">
            <a:spLocks/>
          </p:cNvSpPr>
          <p:nvPr/>
        </p:nvSpPr>
        <p:spPr>
          <a:xfrm>
            <a:off x="838200" y="323849"/>
            <a:ext cx="10515600" cy="552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案例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 老药新用的药效机制解析</a:t>
            </a:r>
          </a:p>
        </p:txBody>
      </p:sp>
    </p:spTree>
    <p:extLst>
      <p:ext uri="{BB962C8B-B14F-4D97-AF65-F5344CB8AC3E}">
        <p14:creationId xmlns:p14="http://schemas.microsoft.com/office/powerpoint/2010/main" val="4176397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60AC248-606E-4A1D-B175-72E15108D8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00"/>
          <a:stretch/>
        </p:blipFill>
        <p:spPr>
          <a:xfrm>
            <a:off x="127955" y="1005411"/>
            <a:ext cx="4666632" cy="51982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C420F64-26B3-4F07-AECA-83E0352BCA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"/>
          <a:stretch/>
        </p:blipFill>
        <p:spPr>
          <a:xfrm>
            <a:off x="5165633" y="1005410"/>
            <a:ext cx="4301836" cy="51982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CF76E5B1-88F8-7C7A-3377-8C81CD25BFDD}"/>
              </a:ext>
            </a:extLst>
          </p:cNvPr>
          <p:cNvGrpSpPr/>
          <p:nvPr/>
        </p:nvGrpSpPr>
        <p:grpSpPr>
          <a:xfrm>
            <a:off x="9838515" y="1005411"/>
            <a:ext cx="2179784" cy="5372295"/>
            <a:chOff x="9838515" y="1005411"/>
            <a:chExt cx="2179784" cy="537229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0B8C1DD-408F-037B-2B14-CA3B7513A89A}"/>
                </a:ext>
              </a:extLst>
            </p:cNvPr>
            <p:cNvSpPr/>
            <p:nvPr/>
          </p:nvSpPr>
          <p:spPr>
            <a:xfrm>
              <a:off x="9838515" y="3304977"/>
              <a:ext cx="1570183" cy="405945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solidFill>
                    <a:srgbClr val="CC3300"/>
                  </a:solidFill>
                  <a:latin typeface="华文楷体"/>
                  <a:ea typeface="华文楷体"/>
                  <a:cs typeface="华文楷体"/>
                  <a:sym typeface="华文楷体"/>
                </a:rPr>
                <a:t>寻找结合表位</a:t>
              </a:r>
              <a:endParaRPr lang="zh-CN" altLang="en-US" b="1" dirty="0">
                <a:latin typeface="华文楷体"/>
                <a:ea typeface="华文楷体"/>
                <a:cs typeface="华文楷体"/>
                <a:sym typeface="华文楷体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2448E11-5FA6-8893-3642-C5335CD4D476}"/>
                </a:ext>
              </a:extLst>
            </p:cNvPr>
            <p:cNvSpPr/>
            <p:nvPr/>
          </p:nvSpPr>
          <p:spPr>
            <a:xfrm>
              <a:off x="9838515" y="2121955"/>
              <a:ext cx="1570183" cy="405945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solidFill>
                    <a:srgbClr val="CC3300"/>
                  </a:solidFill>
                  <a:latin typeface="华文楷体"/>
                  <a:ea typeface="华文楷体"/>
                  <a:sym typeface="华文楷体"/>
                </a:rPr>
                <a:t>验证结合</a:t>
              </a:r>
            </a:p>
          </p:txBody>
        </p:sp>
        <p:sp>
          <p:nvSpPr>
            <p:cNvPr id="6" name="下箭头 46">
              <a:extLst>
                <a:ext uri="{FF2B5EF4-FFF2-40B4-BE49-F238E27FC236}">
                  <a16:creationId xmlns:a16="http://schemas.microsoft.com/office/drawing/2014/main" id="{D26FE1A1-C52F-0177-83A4-354BDCFD5777}"/>
                </a:ext>
              </a:extLst>
            </p:cNvPr>
            <p:cNvSpPr/>
            <p:nvPr/>
          </p:nvSpPr>
          <p:spPr>
            <a:xfrm>
              <a:off x="10467983" y="2734450"/>
              <a:ext cx="264031" cy="35900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7450E58-A37A-CA23-F789-81FE808DB5B0}"/>
                </a:ext>
              </a:extLst>
            </p:cNvPr>
            <p:cNvSpPr/>
            <p:nvPr/>
          </p:nvSpPr>
          <p:spPr>
            <a:xfrm>
              <a:off x="9838515" y="1005411"/>
              <a:ext cx="1570183" cy="405945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solidFill>
                    <a:srgbClr val="CC3300"/>
                  </a:solidFill>
                  <a:latin typeface="华文楷体"/>
                  <a:ea typeface="华文楷体"/>
                  <a:cs typeface="华文楷体"/>
                  <a:sym typeface="华文楷体"/>
                </a:rPr>
                <a:t>靶标捕获</a:t>
              </a:r>
              <a:endParaRPr lang="en-US" altLang="zh-CN" b="1" dirty="0">
                <a:latin typeface="华文楷体"/>
                <a:ea typeface="华文楷体"/>
                <a:cs typeface="华文楷体"/>
              </a:endParaRPr>
            </a:p>
          </p:txBody>
        </p:sp>
        <p:sp>
          <p:nvSpPr>
            <p:cNvPr id="8" name="下箭头 48">
              <a:extLst>
                <a:ext uri="{FF2B5EF4-FFF2-40B4-BE49-F238E27FC236}">
                  <a16:creationId xmlns:a16="http://schemas.microsoft.com/office/drawing/2014/main" id="{A0A36E26-88A1-E61C-1CD8-4C6EFBC527E5}"/>
                </a:ext>
              </a:extLst>
            </p:cNvPr>
            <p:cNvSpPr/>
            <p:nvPr/>
          </p:nvSpPr>
          <p:spPr>
            <a:xfrm>
              <a:off x="10467983" y="1573955"/>
              <a:ext cx="264031" cy="35900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EA0F74F-7DC6-A3EC-E0FC-1BA54E0F96CD}"/>
                </a:ext>
              </a:extLst>
            </p:cNvPr>
            <p:cNvSpPr/>
            <p:nvPr/>
          </p:nvSpPr>
          <p:spPr>
            <a:xfrm>
              <a:off x="9838515" y="4431044"/>
              <a:ext cx="1570183" cy="405945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solidFill>
                    <a:srgbClr val="CC3300"/>
                  </a:solidFill>
                  <a:latin typeface="华文楷体"/>
                  <a:ea typeface="华文楷体"/>
                  <a:cs typeface="华文楷体"/>
                  <a:sym typeface="华文楷体"/>
                </a:rPr>
                <a:t>验证结合表位</a:t>
              </a:r>
              <a:endParaRPr lang="zh-CN" altLang="en-US" b="1" dirty="0">
                <a:latin typeface="华文楷体"/>
                <a:ea typeface="华文楷体"/>
                <a:cs typeface="华文楷体"/>
                <a:sym typeface="华文楷体"/>
              </a:endParaRPr>
            </a:p>
          </p:txBody>
        </p:sp>
        <p:sp>
          <p:nvSpPr>
            <p:cNvPr id="10" name="下箭头 46">
              <a:extLst>
                <a:ext uri="{FF2B5EF4-FFF2-40B4-BE49-F238E27FC236}">
                  <a16:creationId xmlns:a16="http://schemas.microsoft.com/office/drawing/2014/main" id="{664D1B4B-6E1E-CBF2-85B3-A5337A611F47}"/>
                </a:ext>
              </a:extLst>
            </p:cNvPr>
            <p:cNvSpPr/>
            <p:nvPr/>
          </p:nvSpPr>
          <p:spPr>
            <a:xfrm>
              <a:off x="10467983" y="3928250"/>
              <a:ext cx="264031" cy="35900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DDEB05E-C9AD-90BF-8E86-F7BED41CAAE1}"/>
                </a:ext>
              </a:extLst>
            </p:cNvPr>
            <p:cNvSpPr/>
            <p:nvPr/>
          </p:nvSpPr>
          <p:spPr>
            <a:xfrm>
              <a:off x="11588243" y="3368426"/>
              <a:ext cx="430056" cy="1403141"/>
            </a:xfrm>
            <a:prstGeom prst="rect">
              <a:avLst/>
            </a:prstGeom>
            <a:ln>
              <a:noFill/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solidFill>
                    <a:srgbClr val="CC3300"/>
                  </a:solidFill>
                  <a:latin typeface="华文楷体"/>
                  <a:ea typeface="华文楷体"/>
                  <a:cs typeface="华文楷体"/>
                  <a:sym typeface="华文楷体"/>
                </a:rPr>
                <a:t>构效关系</a:t>
              </a:r>
              <a:endParaRPr lang="zh-CN" altLang="en-US" b="1" dirty="0">
                <a:latin typeface="华文楷体"/>
                <a:ea typeface="华文楷体"/>
                <a:cs typeface="华文楷体"/>
                <a:sym typeface="华文楷体"/>
              </a:endParaRPr>
            </a:p>
          </p:txBody>
        </p:sp>
        <p:sp>
          <p:nvSpPr>
            <p:cNvPr id="12" name="下箭头 46">
              <a:extLst>
                <a:ext uri="{FF2B5EF4-FFF2-40B4-BE49-F238E27FC236}">
                  <a16:creationId xmlns:a16="http://schemas.microsoft.com/office/drawing/2014/main" id="{1405F9FD-28B8-7D86-2B00-45CE91B38A09}"/>
                </a:ext>
              </a:extLst>
            </p:cNvPr>
            <p:cNvSpPr/>
            <p:nvPr/>
          </p:nvSpPr>
          <p:spPr>
            <a:xfrm>
              <a:off x="10467983" y="5007377"/>
              <a:ext cx="264031" cy="35900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8D1297D-9F8E-6775-C277-6E2E94EB479B}"/>
                </a:ext>
              </a:extLst>
            </p:cNvPr>
            <p:cNvSpPr/>
            <p:nvPr/>
          </p:nvSpPr>
          <p:spPr>
            <a:xfrm>
              <a:off x="11588243" y="1124759"/>
              <a:ext cx="430056" cy="1403141"/>
            </a:xfrm>
            <a:prstGeom prst="rect">
              <a:avLst/>
            </a:prstGeom>
            <a:ln>
              <a:noFill/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solidFill>
                    <a:srgbClr val="CC3300"/>
                  </a:solidFill>
                  <a:latin typeface="华文楷体"/>
                  <a:ea typeface="华文楷体"/>
                  <a:cs typeface="华文楷体"/>
                  <a:sym typeface="华文楷体"/>
                </a:rPr>
                <a:t>药物靶点</a:t>
              </a:r>
              <a:endParaRPr lang="zh-CN" altLang="en-US" b="1" dirty="0">
                <a:latin typeface="华文楷体"/>
                <a:ea typeface="华文楷体"/>
                <a:cs typeface="华文楷体"/>
                <a:sym typeface="华文楷体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1EC795C-3DE5-8DB2-C6EA-AA2AB0207656}"/>
                </a:ext>
              </a:extLst>
            </p:cNvPr>
            <p:cNvSpPr/>
            <p:nvPr/>
          </p:nvSpPr>
          <p:spPr>
            <a:xfrm>
              <a:off x="9838515" y="5536770"/>
              <a:ext cx="1570183" cy="840936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latin typeface="华文楷体"/>
                  <a:ea typeface="华文楷体"/>
                  <a:cs typeface="华文楷体"/>
                  <a:sym typeface="华文楷体"/>
                </a:rPr>
                <a:t>治疗作用及</a:t>
              </a:r>
              <a:endParaRPr lang="en-US" altLang="zh-CN" b="1" dirty="0">
                <a:latin typeface="华文楷体"/>
                <a:ea typeface="华文楷体"/>
                <a:cs typeface="华文楷体"/>
                <a:sym typeface="华文楷体"/>
              </a:endParaRPr>
            </a:p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latin typeface="华文楷体"/>
                  <a:ea typeface="华文楷体"/>
                  <a:cs typeface="华文楷体"/>
                  <a:sym typeface="华文楷体"/>
                </a:rPr>
                <a:t>下游机制</a:t>
              </a:r>
            </a:p>
          </p:txBody>
        </p:sp>
      </p:grpSp>
      <p:sp>
        <p:nvSpPr>
          <p:cNvPr id="19" name="标题 1">
            <a:extLst>
              <a:ext uri="{FF2B5EF4-FFF2-40B4-BE49-F238E27FC236}">
                <a16:creationId xmlns:a16="http://schemas.microsoft.com/office/drawing/2014/main" id="{D2C9825E-5B05-A6D4-B6E4-8B2E3C648729}"/>
              </a:ext>
            </a:extLst>
          </p:cNvPr>
          <p:cNvSpPr txBox="1">
            <a:spLocks/>
          </p:cNvSpPr>
          <p:nvPr/>
        </p:nvSpPr>
        <p:spPr>
          <a:xfrm>
            <a:off x="838200" y="323849"/>
            <a:ext cx="10515600" cy="552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案例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 老药新用的药效机制解析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AF2E3AE-4858-DFBC-F676-B5B3FBA7A1BD}"/>
              </a:ext>
            </a:extLst>
          </p:cNvPr>
          <p:cNvSpPr txBox="1"/>
          <p:nvPr/>
        </p:nvSpPr>
        <p:spPr>
          <a:xfrm>
            <a:off x="6468538" y="6457372"/>
            <a:ext cx="982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Figure.2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94B3A7-5AC7-6811-B722-449803A2C971}"/>
              </a:ext>
            </a:extLst>
          </p:cNvPr>
          <p:cNvSpPr txBox="1"/>
          <p:nvPr/>
        </p:nvSpPr>
        <p:spPr>
          <a:xfrm>
            <a:off x="2133604" y="6457372"/>
            <a:ext cx="982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Figure.1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640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0824F79-FA39-449B-9C11-1F3D463E0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87" y="857630"/>
            <a:ext cx="6113290" cy="532920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41EDC6F-9850-8D21-C9BC-3F984E35763C}"/>
              </a:ext>
            </a:extLst>
          </p:cNvPr>
          <p:cNvSpPr/>
          <p:nvPr/>
        </p:nvSpPr>
        <p:spPr>
          <a:xfrm>
            <a:off x="8418307" y="3157196"/>
            <a:ext cx="1784027" cy="405945"/>
          </a:xfrm>
          <a:prstGeom prst="rect">
            <a:avLst/>
          </a:prstGeom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 defTabSz="642915">
              <a:lnSpc>
                <a:spcPct val="120000"/>
              </a:lnSpc>
              <a:spcBef>
                <a:spcPts val="844"/>
              </a:spcBef>
              <a:defRPr sz="1800"/>
            </a:pPr>
            <a:r>
              <a:rPr lang="zh-CN" altLang="en-US" b="1" dirty="0">
                <a:solidFill>
                  <a:srgbClr val="CC3300"/>
                </a:solidFill>
                <a:latin typeface="华文楷体"/>
                <a:ea typeface="华文楷体"/>
                <a:cs typeface="华文楷体"/>
                <a:sym typeface="华文楷体"/>
              </a:rPr>
              <a:t>寻找结合表位</a:t>
            </a:r>
            <a:endParaRPr lang="zh-CN" altLang="en-US" b="1" dirty="0">
              <a:latin typeface="华文楷体"/>
              <a:ea typeface="华文楷体"/>
              <a:cs typeface="华文楷体"/>
              <a:sym typeface="华文楷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92CBBC-D9D0-BF35-5379-109CBFACEB27}"/>
              </a:ext>
            </a:extLst>
          </p:cNvPr>
          <p:cNvSpPr/>
          <p:nvPr/>
        </p:nvSpPr>
        <p:spPr>
          <a:xfrm>
            <a:off x="8418307" y="1974174"/>
            <a:ext cx="1784027" cy="405945"/>
          </a:xfrm>
          <a:prstGeom prst="rect">
            <a:avLst/>
          </a:prstGeom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 defTabSz="642915">
              <a:lnSpc>
                <a:spcPct val="120000"/>
              </a:lnSpc>
              <a:spcBef>
                <a:spcPts val="844"/>
              </a:spcBef>
              <a:defRPr sz="1800"/>
            </a:pPr>
            <a:r>
              <a:rPr lang="zh-CN" altLang="en-US" b="1" dirty="0">
                <a:solidFill>
                  <a:srgbClr val="CC3300"/>
                </a:solidFill>
                <a:latin typeface="华文楷体"/>
                <a:ea typeface="华文楷体"/>
                <a:sym typeface="华文楷体"/>
              </a:rPr>
              <a:t>验证结合</a:t>
            </a:r>
          </a:p>
        </p:txBody>
      </p:sp>
      <p:sp>
        <p:nvSpPr>
          <p:cNvPr id="7" name="下箭头 46">
            <a:extLst>
              <a:ext uri="{FF2B5EF4-FFF2-40B4-BE49-F238E27FC236}">
                <a16:creationId xmlns:a16="http://schemas.microsoft.com/office/drawing/2014/main" id="{FAB74333-4031-C5A3-835F-3D1EF7A3F556}"/>
              </a:ext>
            </a:extLst>
          </p:cNvPr>
          <p:cNvSpPr/>
          <p:nvPr/>
        </p:nvSpPr>
        <p:spPr>
          <a:xfrm>
            <a:off x="9225661" y="2586669"/>
            <a:ext cx="299989" cy="3590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FBBB1FF-7A02-5464-8E2B-1301D98D4F77}"/>
              </a:ext>
            </a:extLst>
          </p:cNvPr>
          <p:cNvSpPr/>
          <p:nvPr/>
        </p:nvSpPr>
        <p:spPr>
          <a:xfrm>
            <a:off x="8418307" y="857630"/>
            <a:ext cx="1784027" cy="405945"/>
          </a:xfrm>
          <a:prstGeom prst="rect">
            <a:avLst/>
          </a:prstGeom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 defTabSz="642915">
              <a:lnSpc>
                <a:spcPct val="120000"/>
              </a:lnSpc>
              <a:spcBef>
                <a:spcPts val="844"/>
              </a:spcBef>
              <a:defRPr sz="1800"/>
            </a:pPr>
            <a:r>
              <a:rPr lang="zh-CN" altLang="en-US" b="1" dirty="0">
                <a:solidFill>
                  <a:srgbClr val="CC3300"/>
                </a:solidFill>
                <a:latin typeface="华文楷体"/>
                <a:ea typeface="华文楷体"/>
                <a:cs typeface="华文楷体"/>
                <a:sym typeface="华文楷体"/>
              </a:rPr>
              <a:t>靶标捕获</a:t>
            </a:r>
            <a:endParaRPr lang="en-US" altLang="zh-CN" b="1" dirty="0">
              <a:latin typeface="华文楷体"/>
              <a:ea typeface="华文楷体"/>
              <a:cs typeface="华文楷体"/>
            </a:endParaRPr>
          </a:p>
        </p:txBody>
      </p:sp>
      <p:sp>
        <p:nvSpPr>
          <p:cNvPr id="9" name="下箭头 48">
            <a:extLst>
              <a:ext uri="{FF2B5EF4-FFF2-40B4-BE49-F238E27FC236}">
                <a16:creationId xmlns:a16="http://schemas.microsoft.com/office/drawing/2014/main" id="{09B56103-C94A-F7FA-37FB-C1841BB8FE2F}"/>
              </a:ext>
            </a:extLst>
          </p:cNvPr>
          <p:cNvSpPr/>
          <p:nvPr/>
        </p:nvSpPr>
        <p:spPr>
          <a:xfrm>
            <a:off x="9225661" y="1426174"/>
            <a:ext cx="299989" cy="3590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80A65C-F25D-C665-6E34-917F862087FB}"/>
              </a:ext>
            </a:extLst>
          </p:cNvPr>
          <p:cNvSpPr/>
          <p:nvPr/>
        </p:nvSpPr>
        <p:spPr>
          <a:xfrm>
            <a:off x="8418307" y="4283263"/>
            <a:ext cx="1784027" cy="405945"/>
          </a:xfrm>
          <a:prstGeom prst="rect">
            <a:avLst/>
          </a:prstGeom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 defTabSz="642915">
              <a:lnSpc>
                <a:spcPct val="120000"/>
              </a:lnSpc>
              <a:spcBef>
                <a:spcPts val="844"/>
              </a:spcBef>
              <a:defRPr sz="1800"/>
            </a:pPr>
            <a:r>
              <a:rPr lang="zh-CN" altLang="en-US" b="1" dirty="0">
                <a:solidFill>
                  <a:srgbClr val="CC3300"/>
                </a:solidFill>
                <a:latin typeface="华文楷体"/>
                <a:ea typeface="华文楷体"/>
                <a:cs typeface="华文楷体"/>
                <a:sym typeface="华文楷体"/>
              </a:rPr>
              <a:t>验证结合表位</a:t>
            </a:r>
            <a:endParaRPr lang="zh-CN" altLang="en-US" b="1" dirty="0">
              <a:latin typeface="华文楷体"/>
              <a:ea typeface="华文楷体"/>
              <a:cs typeface="华文楷体"/>
              <a:sym typeface="华文楷体"/>
            </a:endParaRPr>
          </a:p>
        </p:txBody>
      </p:sp>
      <p:sp>
        <p:nvSpPr>
          <p:cNvPr id="11" name="下箭头 46">
            <a:extLst>
              <a:ext uri="{FF2B5EF4-FFF2-40B4-BE49-F238E27FC236}">
                <a16:creationId xmlns:a16="http://schemas.microsoft.com/office/drawing/2014/main" id="{0A28AD97-7253-BAEA-480D-4E638D0171AB}"/>
              </a:ext>
            </a:extLst>
          </p:cNvPr>
          <p:cNvSpPr/>
          <p:nvPr/>
        </p:nvSpPr>
        <p:spPr>
          <a:xfrm>
            <a:off x="9225661" y="3780469"/>
            <a:ext cx="299989" cy="3590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8C4096-FECA-2D70-E67C-43F4862FEC3C}"/>
              </a:ext>
            </a:extLst>
          </p:cNvPr>
          <p:cNvSpPr/>
          <p:nvPr/>
        </p:nvSpPr>
        <p:spPr>
          <a:xfrm>
            <a:off x="10323309" y="3220645"/>
            <a:ext cx="488626" cy="1403141"/>
          </a:xfrm>
          <a:prstGeom prst="rect">
            <a:avLst/>
          </a:prstGeom>
          <a:ln>
            <a:noFill/>
            <a:prstDash val="dashDot"/>
          </a:ln>
        </p:spPr>
        <p:txBody>
          <a:bodyPr wrap="square">
            <a:spAutoFit/>
          </a:bodyPr>
          <a:lstStyle/>
          <a:p>
            <a:pPr algn="ctr" defTabSz="642915">
              <a:lnSpc>
                <a:spcPct val="120000"/>
              </a:lnSpc>
              <a:spcBef>
                <a:spcPts val="844"/>
              </a:spcBef>
              <a:defRPr sz="1800"/>
            </a:pPr>
            <a:r>
              <a:rPr lang="zh-CN" altLang="en-US" b="1" dirty="0">
                <a:solidFill>
                  <a:srgbClr val="CC3300"/>
                </a:solidFill>
                <a:latin typeface="华文楷体"/>
                <a:ea typeface="华文楷体"/>
                <a:cs typeface="华文楷体"/>
                <a:sym typeface="华文楷体"/>
              </a:rPr>
              <a:t>构效关系</a:t>
            </a:r>
            <a:endParaRPr lang="zh-CN" altLang="en-US" b="1" dirty="0">
              <a:latin typeface="华文楷体"/>
              <a:ea typeface="华文楷体"/>
              <a:cs typeface="华文楷体"/>
              <a:sym typeface="华文楷体"/>
            </a:endParaRPr>
          </a:p>
        </p:txBody>
      </p:sp>
      <p:sp>
        <p:nvSpPr>
          <p:cNvPr id="13" name="下箭头 46">
            <a:extLst>
              <a:ext uri="{FF2B5EF4-FFF2-40B4-BE49-F238E27FC236}">
                <a16:creationId xmlns:a16="http://schemas.microsoft.com/office/drawing/2014/main" id="{2B8F4C78-353B-ED01-B0C1-B7EA98EF157C}"/>
              </a:ext>
            </a:extLst>
          </p:cNvPr>
          <p:cNvSpPr/>
          <p:nvPr/>
        </p:nvSpPr>
        <p:spPr>
          <a:xfrm>
            <a:off x="9225661" y="4859596"/>
            <a:ext cx="299989" cy="3590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3B8D32-1C36-EC36-F34F-A902E3087731}"/>
              </a:ext>
            </a:extLst>
          </p:cNvPr>
          <p:cNvSpPr/>
          <p:nvPr/>
        </p:nvSpPr>
        <p:spPr>
          <a:xfrm>
            <a:off x="10323309" y="976978"/>
            <a:ext cx="488626" cy="1403141"/>
          </a:xfrm>
          <a:prstGeom prst="rect">
            <a:avLst/>
          </a:prstGeom>
          <a:ln>
            <a:noFill/>
            <a:prstDash val="dashDot"/>
          </a:ln>
        </p:spPr>
        <p:txBody>
          <a:bodyPr wrap="square">
            <a:spAutoFit/>
          </a:bodyPr>
          <a:lstStyle/>
          <a:p>
            <a:pPr algn="ctr" defTabSz="642915">
              <a:lnSpc>
                <a:spcPct val="120000"/>
              </a:lnSpc>
              <a:spcBef>
                <a:spcPts val="844"/>
              </a:spcBef>
              <a:defRPr sz="1800"/>
            </a:pPr>
            <a:r>
              <a:rPr lang="zh-CN" altLang="en-US" b="1" dirty="0">
                <a:solidFill>
                  <a:srgbClr val="CC3300"/>
                </a:solidFill>
                <a:latin typeface="华文楷体"/>
                <a:ea typeface="华文楷体"/>
                <a:cs typeface="华文楷体"/>
                <a:sym typeface="华文楷体"/>
              </a:rPr>
              <a:t>药物靶点</a:t>
            </a:r>
            <a:endParaRPr lang="zh-CN" altLang="en-US" b="1" dirty="0">
              <a:latin typeface="华文楷体"/>
              <a:ea typeface="华文楷体"/>
              <a:cs typeface="华文楷体"/>
              <a:sym typeface="华文楷体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F10987-FD89-FA21-4622-EC9A05A25715}"/>
              </a:ext>
            </a:extLst>
          </p:cNvPr>
          <p:cNvSpPr/>
          <p:nvPr/>
        </p:nvSpPr>
        <p:spPr>
          <a:xfrm>
            <a:off x="8418307" y="5388989"/>
            <a:ext cx="1784027" cy="840936"/>
          </a:xfrm>
          <a:prstGeom prst="rect">
            <a:avLst/>
          </a:prstGeom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 defTabSz="642915">
              <a:lnSpc>
                <a:spcPct val="120000"/>
              </a:lnSpc>
              <a:spcBef>
                <a:spcPts val="844"/>
              </a:spcBef>
              <a:defRPr sz="1800"/>
            </a:pPr>
            <a:r>
              <a:rPr lang="zh-CN" altLang="en-US" b="1" dirty="0">
                <a:latin typeface="华文楷体"/>
                <a:ea typeface="华文楷体"/>
                <a:cs typeface="华文楷体"/>
                <a:sym typeface="华文楷体"/>
              </a:rPr>
              <a:t>治疗作用及</a:t>
            </a:r>
            <a:endParaRPr lang="en-US" altLang="zh-CN" b="1" dirty="0">
              <a:latin typeface="华文楷体"/>
              <a:ea typeface="华文楷体"/>
              <a:cs typeface="华文楷体"/>
              <a:sym typeface="华文楷体"/>
            </a:endParaRPr>
          </a:p>
          <a:p>
            <a:pPr algn="ctr" defTabSz="642915">
              <a:lnSpc>
                <a:spcPct val="120000"/>
              </a:lnSpc>
              <a:spcBef>
                <a:spcPts val="844"/>
              </a:spcBef>
              <a:defRPr sz="1800"/>
            </a:pPr>
            <a:r>
              <a:rPr lang="zh-CN" altLang="en-US" b="1" dirty="0">
                <a:latin typeface="华文楷体"/>
                <a:ea typeface="华文楷体"/>
                <a:cs typeface="华文楷体"/>
                <a:sym typeface="华文楷体"/>
              </a:rPr>
              <a:t>下游机制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BA425180-BFDB-27C3-B76A-96C7680FB12A}"/>
              </a:ext>
            </a:extLst>
          </p:cNvPr>
          <p:cNvSpPr txBox="1">
            <a:spLocks/>
          </p:cNvSpPr>
          <p:nvPr/>
        </p:nvSpPr>
        <p:spPr>
          <a:xfrm>
            <a:off x="838200" y="323849"/>
            <a:ext cx="10515600" cy="552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案例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 药效的多靶点效应解析</a:t>
            </a:r>
          </a:p>
        </p:txBody>
      </p:sp>
    </p:spTree>
    <p:extLst>
      <p:ext uri="{BB962C8B-B14F-4D97-AF65-F5344CB8AC3E}">
        <p14:creationId xmlns:p14="http://schemas.microsoft.com/office/powerpoint/2010/main" val="3168759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D0AA4E0-3C47-4728-9A34-4BF94C6CF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581" y="1025237"/>
            <a:ext cx="3989813" cy="525606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C733BD9-A76E-4071-906A-42E5F9F4D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33" y="1025236"/>
            <a:ext cx="3842673" cy="52560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21A505F-5C7D-70BC-0B3A-85C2165ACE01}"/>
              </a:ext>
            </a:extLst>
          </p:cNvPr>
          <p:cNvSpPr/>
          <p:nvPr/>
        </p:nvSpPr>
        <p:spPr>
          <a:xfrm>
            <a:off x="9452780" y="3157196"/>
            <a:ext cx="1784027" cy="405945"/>
          </a:xfrm>
          <a:prstGeom prst="rect">
            <a:avLst/>
          </a:prstGeom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 defTabSz="642915">
              <a:lnSpc>
                <a:spcPct val="120000"/>
              </a:lnSpc>
              <a:spcBef>
                <a:spcPts val="844"/>
              </a:spcBef>
              <a:defRPr sz="1800"/>
            </a:pPr>
            <a:r>
              <a:rPr lang="zh-CN" altLang="en-US" b="1" dirty="0">
                <a:solidFill>
                  <a:srgbClr val="CC3300"/>
                </a:solidFill>
                <a:latin typeface="华文楷体"/>
                <a:ea typeface="华文楷体"/>
                <a:cs typeface="华文楷体"/>
                <a:sym typeface="华文楷体"/>
              </a:rPr>
              <a:t>寻找结合表位</a:t>
            </a:r>
            <a:endParaRPr lang="zh-CN" altLang="en-US" b="1" dirty="0">
              <a:latin typeface="华文楷体"/>
              <a:ea typeface="华文楷体"/>
              <a:cs typeface="华文楷体"/>
              <a:sym typeface="华文楷体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B321B5-A215-5099-6520-A6350D7C1E0D}"/>
              </a:ext>
            </a:extLst>
          </p:cNvPr>
          <p:cNvSpPr/>
          <p:nvPr/>
        </p:nvSpPr>
        <p:spPr>
          <a:xfrm>
            <a:off x="9452780" y="1974174"/>
            <a:ext cx="1784027" cy="405945"/>
          </a:xfrm>
          <a:prstGeom prst="rect">
            <a:avLst/>
          </a:prstGeom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 defTabSz="642915">
              <a:lnSpc>
                <a:spcPct val="120000"/>
              </a:lnSpc>
              <a:spcBef>
                <a:spcPts val="844"/>
              </a:spcBef>
              <a:defRPr sz="1800"/>
            </a:pPr>
            <a:r>
              <a:rPr lang="zh-CN" altLang="en-US" b="1" dirty="0">
                <a:solidFill>
                  <a:srgbClr val="CC3300"/>
                </a:solidFill>
                <a:latin typeface="华文楷体"/>
                <a:ea typeface="华文楷体"/>
                <a:sym typeface="华文楷体"/>
              </a:rPr>
              <a:t>验证结合</a:t>
            </a:r>
          </a:p>
        </p:txBody>
      </p:sp>
      <p:sp>
        <p:nvSpPr>
          <p:cNvPr id="6" name="下箭头 46">
            <a:extLst>
              <a:ext uri="{FF2B5EF4-FFF2-40B4-BE49-F238E27FC236}">
                <a16:creationId xmlns:a16="http://schemas.microsoft.com/office/drawing/2014/main" id="{E0322D02-5D3F-2A43-34E9-3FE669C0D36C}"/>
              </a:ext>
            </a:extLst>
          </p:cNvPr>
          <p:cNvSpPr/>
          <p:nvPr/>
        </p:nvSpPr>
        <p:spPr>
          <a:xfrm>
            <a:off x="10260134" y="2586669"/>
            <a:ext cx="299989" cy="3590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AF2837-5A31-B16F-F2CB-813D8D702083}"/>
              </a:ext>
            </a:extLst>
          </p:cNvPr>
          <p:cNvSpPr/>
          <p:nvPr/>
        </p:nvSpPr>
        <p:spPr>
          <a:xfrm>
            <a:off x="9452780" y="857630"/>
            <a:ext cx="1784027" cy="405945"/>
          </a:xfrm>
          <a:prstGeom prst="rect">
            <a:avLst/>
          </a:prstGeom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 defTabSz="642915">
              <a:lnSpc>
                <a:spcPct val="120000"/>
              </a:lnSpc>
              <a:spcBef>
                <a:spcPts val="844"/>
              </a:spcBef>
              <a:defRPr sz="1800"/>
            </a:pPr>
            <a:r>
              <a:rPr lang="zh-CN" altLang="en-US" b="1" dirty="0">
                <a:solidFill>
                  <a:srgbClr val="CC3300"/>
                </a:solidFill>
                <a:latin typeface="华文楷体"/>
                <a:ea typeface="华文楷体"/>
                <a:cs typeface="华文楷体"/>
                <a:sym typeface="华文楷体"/>
              </a:rPr>
              <a:t>靶标捕获</a:t>
            </a:r>
            <a:endParaRPr lang="en-US" altLang="zh-CN" b="1" dirty="0">
              <a:latin typeface="华文楷体"/>
              <a:ea typeface="华文楷体"/>
              <a:cs typeface="华文楷体"/>
            </a:endParaRPr>
          </a:p>
        </p:txBody>
      </p:sp>
      <p:sp>
        <p:nvSpPr>
          <p:cNvPr id="9" name="下箭头 48">
            <a:extLst>
              <a:ext uri="{FF2B5EF4-FFF2-40B4-BE49-F238E27FC236}">
                <a16:creationId xmlns:a16="http://schemas.microsoft.com/office/drawing/2014/main" id="{57B28261-C3FC-1E28-2F00-63EC5E74853C}"/>
              </a:ext>
            </a:extLst>
          </p:cNvPr>
          <p:cNvSpPr/>
          <p:nvPr/>
        </p:nvSpPr>
        <p:spPr>
          <a:xfrm>
            <a:off x="10260134" y="1426174"/>
            <a:ext cx="299989" cy="3590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E582BC-2B13-F148-5ED9-326263D17850}"/>
              </a:ext>
            </a:extLst>
          </p:cNvPr>
          <p:cNvSpPr/>
          <p:nvPr/>
        </p:nvSpPr>
        <p:spPr>
          <a:xfrm>
            <a:off x="9452780" y="4283263"/>
            <a:ext cx="1784027" cy="405945"/>
          </a:xfrm>
          <a:prstGeom prst="rect">
            <a:avLst/>
          </a:prstGeom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 defTabSz="642915">
              <a:lnSpc>
                <a:spcPct val="120000"/>
              </a:lnSpc>
              <a:spcBef>
                <a:spcPts val="844"/>
              </a:spcBef>
              <a:defRPr sz="1800"/>
            </a:pPr>
            <a:r>
              <a:rPr lang="zh-CN" altLang="en-US" b="1" dirty="0">
                <a:solidFill>
                  <a:srgbClr val="CC3300"/>
                </a:solidFill>
                <a:latin typeface="华文楷体"/>
                <a:ea typeface="华文楷体"/>
                <a:cs typeface="华文楷体"/>
                <a:sym typeface="华文楷体"/>
              </a:rPr>
              <a:t>验证结合表位</a:t>
            </a:r>
            <a:endParaRPr lang="zh-CN" altLang="en-US" b="1" dirty="0">
              <a:latin typeface="华文楷体"/>
              <a:ea typeface="华文楷体"/>
              <a:cs typeface="华文楷体"/>
              <a:sym typeface="华文楷体"/>
            </a:endParaRPr>
          </a:p>
        </p:txBody>
      </p:sp>
      <p:sp>
        <p:nvSpPr>
          <p:cNvPr id="11" name="下箭头 46">
            <a:extLst>
              <a:ext uri="{FF2B5EF4-FFF2-40B4-BE49-F238E27FC236}">
                <a16:creationId xmlns:a16="http://schemas.microsoft.com/office/drawing/2014/main" id="{83CACF2D-8B44-13F4-7F7B-CB39D2078CFC}"/>
              </a:ext>
            </a:extLst>
          </p:cNvPr>
          <p:cNvSpPr/>
          <p:nvPr/>
        </p:nvSpPr>
        <p:spPr>
          <a:xfrm>
            <a:off x="10260134" y="3780469"/>
            <a:ext cx="299989" cy="3590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05661B-EA56-2E33-EE16-FA0AD2BA47BE}"/>
              </a:ext>
            </a:extLst>
          </p:cNvPr>
          <p:cNvSpPr/>
          <p:nvPr/>
        </p:nvSpPr>
        <p:spPr>
          <a:xfrm>
            <a:off x="11357782" y="3220645"/>
            <a:ext cx="488626" cy="1403141"/>
          </a:xfrm>
          <a:prstGeom prst="rect">
            <a:avLst/>
          </a:prstGeom>
          <a:ln>
            <a:noFill/>
            <a:prstDash val="dashDot"/>
          </a:ln>
        </p:spPr>
        <p:txBody>
          <a:bodyPr wrap="square">
            <a:spAutoFit/>
          </a:bodyPr>
          <a:lstStyle/>
          <a:p>
            <a:pPr algn="ctr" defTabSz="642915">
              <a:lnSpc>
                <a:spcPct val="120000"/>
              </a:lnSpc>
              <a:spcBef>
                <a:spcPts val="844"/>
              </a:spcBef>
              <a:defRPr sz="1800"/>
            </a:pPr>
            <a:r>
              <a:rPr lang="zh-CN" altLang="en-US" b="1" dirty="0">
                <a:solidFill>
                  <a:srgbClr val="CC3300"/>
                </a:solidFill>
                <a:latin typeface="华文楷体"/>
                <a:ea typeface="华文楷体"/>
                <a:cs typeface="华文楷体"/>
                <a:sym typeface="华文楷体"/>
              </a:rPr>
              <a:t>构效关系</a:t>
            </a:r>
            <a:endParaRPr lang="zh-CN" altLang="en-US" b="1" dirty="0">
              <a:latin typeface="华文楷体"/>
              <a:ea typeface="华文楷体"/>
              <a:cs typeface="华文楷体"/>
              <a:sym typeface="华文楷体"/>
            </a:endParaRPr>
          </a:p>
        </p:txBody>
      </p:sp>
      <p:sp>
        <p:nvSpPr>
          <p:cNvPr id="13" name="下箭头 46">
            <a:extLst>
              <a:ext uri="{FF2B5EF4-FFF2-40B4-BE49-F238E27FC236}">
                <a16:creationId xmlns:a16="http://schemas.microsoft.com/office/drawing/2014/main" id="{EC011F77-5F98-CA4B-E901-E19E2F17569F}"/>
              </a:ext>
            </a:extLst>
          </p:cNvPr>
          <p:cNvSpPr/>
          <p:nvPr/>
        </p:nvSpPr>
        <p:spPr>
          <a:xfrm>
            <a:off x="10260134" y="4859596"/>
            <a:ext cx="299989" cy="3590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DE4AB5-4F4B-7C9E-E02E-E712C7243032}"/>
              </a:ext>
            </a:extLst>
          </p:cNvPr>
          <p:cNvSpPr/>
          <p:nvPr/>
        </p:nvSpPr>
        <p:spPr>
          <a:xfrm>
            <a:off x="11357782" y="976978"/>
            <a:ext cx="488626" cy="1403141"/>
          </a:xfrm>
          <a:prstGeom prst="rect">
            <a:avLst/>
          </a:prstGeom>
          <a:ln>
            <a:noFill/>
            <a:prstDash val="dashDot"/>
          </a:ln>
        </p:spPr>
        <p:txBody>
          <a:bodyPr wrap="square">
            <a:spAutoFit/>
          </a:bodyPr>
          <a:lstStyle/>
          <a:p>
            <a:pPr algn="ctr" defTabSz="642915">
              <a:lnSpc>
                <a:spcPct val="120000"/>
              </a:lnSpc>
              <a:spcBef>
                <a:spcPts val="844"/>
              </a:spcBef>
              <a:defRPr sz="1800"/>
            </a:pPr>
            <a:r>
              <a:rPr lang="zh-CN" altLang="en-US" b="1" dirty="0">
                <a:solidFill>
                  <a:srgbClr val="CC3300"/>
                </a:solidFill>
                <a:latin typeface="华文楷体"/>
                <a:ea typeface="华文楷体"/>
                <a:cs typeface="华文楷体"/>
                <a:sym typeface="华文楷体"/>
              </a:rPr>
              <a:t>药物靶点</a:t>
            </a:r>
            <a:endParaRPr lang="zh-CN" altLang="en-US" b="1" dirty="0">
              <a:latin typeface="华文楷体"/>
              <a:ea typeface="华文楷体"/>
              <a:cs typeface="华文楷体"/>
              <a:sym typeface="华文楷体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E3DAAB-FB81-BF44-0C96-69028F660540}"/>
              </a:ext>
            </a:extLst>
          </p:cNvPr>
          <p:cNvSpPr/>
          <p:nvPr/>
        </p:nvSpPr>
        <p:spPr>
          <a:xfrm>
            <a:off x="9452780" y="5388989"/>
            <a:ext cx="1784027" cy="840936"/>
          </a:xfrm>
          <a:prstGeom prst="rect">
            <a:avLst/>
          </a:prstGeom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 defTabSz="642915">
              <a:lnSpc>
                <a:spcPct val="120000"/>
              </a:lnSpc>
              <a:spcBef>
                <a:spcPts val="844"/>
              </a:spcBef>
              <a:defRPr sz="1800"/>
            </a:pPr>
            <a:r>
              <a:rPr lang="zh-CN" altLang="en-US" b="1" dirty="0">
                <a:latin typeface="华文楷体"/>
                <a:ea typeface="华文楷体"/>
                <a:cs typeface="华文楷体"/>
                <a:sym typeface="华文楷体"/>
              </a:rPr>
              <a:t>治疗作用及</a:t>
            </a:r>
            <a:endParaRPr lang="en-US" altLang="zh-CN" b="1" dirty="0">
              <a:latin typeface="华文楷体"/>
              <a:ea typeface="华文楷体"/>
              <a:cs typeface="华文楷体"/>
              <a:sym typeface="华文楷体"/>
            </a:endParaRPr>
          </a:p>
          <a:p>
            <a:pPr algn="ctr" defTabSz="642915">
              <a:lnSpc>
                <a:spcPct val="120000"/>
              </a:lnSpc>
              <a:spcBef>
                <a:spcPts val="844"/>
              </a:spcBef>
              <a:defRPr sz="1800"/>
            </a:pPr>
            <a:r>
              <a:rPr lang="zh-CN" altLang="en-US" b="1" dirty="0">
                <a:latin typeface="华文楷体"/>
                <a:ea typeface="华文楷体"/>
                <a:cs typeface="华文楷体"/>
                <a:sym typeface="华文楷体"/>
              </a:rPr>
              <a:t>下游机制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C73B1B25-39CE-3ECC-3082-64FA3BBCFAC7}"/>
              </a:ext>
            </a:extLst>
          </p:cNvPr>
          <p:cNvSpPr txBox="1">
            <a:spLocks/>
          </p:cNvSpPr>
          <p:nvPr/>
        </p:nvSpPr>
        <p:spPr>
          <a:xfrm>
            <a:off x="838200" y="323849"/>
            <a:ext cx="10515600" cy="552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案例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 药效的多靶点效应解析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AC5CC65-6E55-DCE6-5BE3-516089127B94}"/>
              </a:ext>
            </a:extLst>
          </p:cNvPr>
          <p:cNvSpPr txBox="1"/>
          <p:nvPr/>
        </p:nvSpPr>
        <p:spPr>
          <a:xfrm>
            <a:off x="6468538" y="6457372"/>
            <a:ext cx="982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Figure.2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B0C3235-233F-3483-E189-685168177562}"/>
              </a:ext>
            </a:extLst>
          </p:cNvPr>
          <p:cNvSpPr txBox="1"/>
          <p:nvPr/>
        </p:nvSpPr>
        <p:spPr>
          <a:xfrm>
            <a:off x="2133604" y="6457372"/>
            <a:ext cx="982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Figure.1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469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6B4B546-3694-30E8-3D92-38EDF7B61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90" y="1589896"/>
            <a:ext cx="8039115" cy="382434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4DAB442-584D-70DF-7054-3382F8ACF7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060" t="14420" r="1132" b="1127"/>
          <a:stretch/>
        </p:blipFill>
        <p:spPr>
          <a:xfrm>
            <a:off x="8767439" y="1850794"/>
            <a:ext cx="3208865" cy="19917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4D2154-08E2-31DD-74F9-88BC11559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8027" y="3710517"/>
            <a:ext cx="2587688" cy="2495034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E9484A3A-5063-5DB6-DC0F-4391BF5D69AF}"/>
              </a:ext>
            </a:extLst>
          </p:cNvPr>
          <p:cNvSpPr txBox="1">
            <a:spLocks/>
          </p:cNvSpPr>
          <p:nvPr/>
        </p:nvSpPr>
        <p:spPr>
          <a:xfrm>
            <a:off x="838200" y="323849"/>
            <a:ext cx="10515600" cy="552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案例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 原研药物的药效解析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BE34BE-5C8E-3391-F70C-B5816B54F8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4627" y="1187450"/>
            <a:ext cx="3634490" cy="66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183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7267B47-FB36-78F7-116B-0D22A79934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23"/>
          <a:stretch/>
        </p:blipFill>
        <p:spPr>
          <a:xfrm>
            <a:off x="9897247" y="351215"/>
            <a:ext cx="907313" cy="93528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305AEBA-81AB-391C-5184-72FCC862E721}"/>
              </a:ext>
            </a:extLst>
          </p:cNvPr>
          <p:cNvSpPr txBox="1"/>
          <p:nvPr/>
        </p:nvSpPr>
        <p:spPr>
          <a:xfrm>
            <a:off x="9340273" y="1368766"/>
            <a:ext cx="2156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中科院南海海洋所</a:t>
            </a:r>
            <a:endParaRPr lang="en-US" altLang="zh-CN" b="1" dirty="0"/>
          </a:p>
          <a:p>
            <a:r>
              <a:rPr lang="zh-CN" altLang="en-US" b="1" dirty="0"/>
              <a:t>鞠建华 研究员 团队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C9B679-8328-346E-162B-CC7C3F43E76B}"/>
              </a:ext>
            </a:extLst>
          </p:cNvPr>
          <p:cNvGrpSpPr/>
          <p:nvPr/>
        </p:nvGrpSpPr>
        <p:grpSpPr>
          <a:xfrm>
            <a:off x="9376287" y="2203238"/>
            <a:ext cx="2081795" cy="4177683"/>
            <a:chOff x="175017" y="2165431"/>
            <a:chExt cx="2081795" cy="41776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7D1B170-49DA-663F-C56C-BAF16604B28C}"/>
                </a:ext>
              </a:extLst>
            </p:cNvPr>
            <p:cNvSpPr/>
            <p:nvPr/>
          </p:nvSpPr>
          <p:spPr>
            <a:xfrm>
              <a:off x="175017" y="4051299"/>
              <a:ext cx="2081795" cy="405945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solidFill>
                    <a:srgbClr val="CC3300"/>
                  </a:solidFill>
                  <a:latin typeface="华文楷体"/>
                  <a:ea typeface="华文楷体"/>
                  <a:cs typeface="华文楷体"/>
                  <a:sym typeface="华文楷体"/>
                </a:rPr>
                <a:t>结合动力学分析</a:t>
              </a:r>
              <a:endParaRPr lang="zh-CN" altLang="en-US" b="1" dirty="0">
                <a:latin typeface="华文楷体"/>
                <a:ea typeface="华文楷体"/>
                <a:cs typeface="华文楷体"/>
                <a:sym typeface="华文楷体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5C2FC7-10AD-BB44-6590-122CF400BA8D}"/>
                </a:ext>
              </a:extLst>
            </p:cNvPr>
            <p:cNvSpPr/>
            <p:nvPr/>
          </p:nvSpPr>
          <p:spPr>
            <a:xfrm>
              <a:off x="175017" y="3108365"/>
              <a:ext cx="2081795" cy="405945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solidFill>
                    <a:srgbClr val="CC3300"/>
                  </a:solidFill>
                  <a:latin typeface="华文楷体"/>
                  <a:ea typeface="华文楷体"/>
                  <a:sym typeface="华文楷体"/>
                </a:rPr>
                <a:t>药效靶标分析</a:t>
              </a:r>
            </a:p>
          </p:txBody>
        </p:sp>
        <p:sp>
          <p:nvSpPr>
            <p:cNvPr id="13" name="下箭头 46">
              <a:extLst>
                <a:ext uri="{FF2B5EF4-FFF2-40B4-BE49-F238E27FC236}">
                  <a16:creationId xmlns:a16="http://schemas.microsoft.com/office/drawing/2014/main" id="{0AAF8435-C97B-2E6F-BC15-99DF323BD6E4}"/>
                </a:ext>
              </a:extLst>
            </p:cNvPr>
            <p:cNvSpPr/>
            <p:nvPr/>
          </p:nvSpPr>
          <p:spPr>
            <a:xfrm>
              <a:off x="982371" y="3603302"/>
              <a:ext cx="299989" cy="35900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7A3CCD1-8CC1-2876-E133-842F83E06987}"/>
                </a:ext>
              </a:extLst>
            </p:cNvPr>
            <p:cNvSpPr/>
            <p:nvPr/>
          </p:nvSpPr>
          <p:spPr>
            <a:xfrm>
              <a:off x="175017" y="2165431"/>
              <a:ext cx="2081795" cy="405945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solidFill>
                    <a:srgbClr val="CC3300"/>
                  </a:solidFill>
                  <a:latin typeface="华文楷体"/>
                  <a:ea typeface="华文楷体"/>
                  <a:cs typeface="华文楷体"/>
                  <a:sym typeface="华文楷体"/>
                </a:rPr>
                <a:t>海洋天然产物提取</a:t>
              </a:r>
              <a:endParaRPr lang="en-US" altLang="zh-CN" b="1" dirty="0">
                <a:latin typeface="华文楷体"/>
                <a:ea typeface="华文楷体"/>
                <a:cs typeface="华文楷体"/>
              </a:endParaRPr>
            </a:p>
          </p:txBody>
        </p:sp>
        <p:sp>
          <p:nvSpPr>
            <p:cNvPr id="15" name="下箭头 48">
              <a:extLst>
                <a:ext uri="{FF2B5EF4-FFF2-40B4-BE49-F238E27FC236}">
                  <a16:creationId xmlns:a16="http://schemas.microsoft.com/office/drawing/2014/main" id="{9FCA9E35-5E7F-D248-F028-90901823800F}"/>
                </a:ext>
              </a:extLst>
            </p:cNvPr>
            <p:cNvSpPr/>
            <p:nvPr/>
          </p:nvSpPr>
          <p:spPr>
            <a:xfrm>
              <a:off x="982371" y="2660368"/>
              <a:ext cx="299989" cy="35900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7E451C1-0D07-36E8-8B4A-3F132E070EF4}"/>
                </a:ext>
              </a:extLst>
            </p:cNvPr>
            <p:cNvSpPr/>
            <p:nvPr/>
          </p:nvSpPr>
          <p:spPr>
            <a:xfrm>
              <a:off x="175017" y="4994233"/>
              <a:ext cx="2081795" cy="405945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solidFill>
                    <a:srgbClr val="CC3300"/>
                  </a:solidFill>
                  <a:latin typeface="华文楷体"/>
                  <a:ea typeface="华文楷体"/>
                  <a:cs typeface="华文楷体"/>
                  <a:sym typeface="华文楷体"/>
                </a:rPr>
                <a:t>药效机制验证</a:t>
              </a:r>
              <a:endParaRPr lang="zh-CN" altLang="en-US" b="1" dirty="0">
                <a:latin typeface="华文楷体"/>
                <a:ea typeface="华文楷体"/>
                <a:cs typeface="华文楷体"/>
                <a:sym typeface="华文楷体"/>
              </a:endParaRPr>
            </a:p>
          </p:txBody>
        </p:sp>
        <p:sp>
          <p:nvSpPr>
            <p:cNvPr id="17" name="下箭头 46">
              <a:extLst>
                <a:ext uri="{FF2B5EF4-FFF2-40B4-BE49-F238E27FC236}">
                  <a16:creationId xmlns:a16="http://schemas.microsoft.com/office/drawing/2014/main" id="{378FB675-D4D4-5851-08DF-42E9BCCF4A69}"/>
                </a:ext>
              </a:extLst>
            </p:cNvPr>
            <p:cNvSpPr/>
            <p:nvPr/>
          </p:nvSpPr>
          <p:spPr>
            <a:xfrm>
              <a:off x="982371" y="4546236"/>
              <a:ext cx="299989" cy="35900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下箭头 46">
              <a:extLst>
                <a:ext uri="{FF2B5EF4-FFF2-40B4-BE49-F238E27FC236}">
                  <a16:creationId xmlns:a16="http://schemas.microsoft.com/office/drawing/2014/main" id="{1D6DC7B7-225E-FE57-37EB-6E8264B4F7B3}"/>
                </a:ext>
              </a:extLst>
            </p:cNvPr>
            <p:cNvSpPr/>
            <p:nvPr/>
          </p:nvSpPr>
          <p:spPr>
            <a:xfrm>
              <a:off x="982371" y="5489170"/>
              <a:ext cx="299989" cy="35900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AFD3593-D481-165B-D1DB-9BE8931E0047}"/>
                </a:ext>
              </a:extLst>
            </p:cNvPr>
            <p:cNvSpPr/>
            <p:nvPr/>
          </p:nvSpPr>
          <p:spPr>
            <a:xfrm>
              <a:off x="175017" y="5937169"/>
              <a:ext cx="2081795" cy="405945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b="1" dirty="0">
                  <a:latin typeface="华文楷体"/>
                  <a:ea typeface="华文楷体"/>
                  <a:cs typeface="华文楷体"/>
                  <a:sym typeface="华文楷体"/>
                </a:rPr>
                <a:t>治疗作用</a:t>
              </a:r>
            </a:p>
          </p:txBody>
        </p:sp>
      </p:grpSp>
      <p:sp>
        <p:nvSpPr>
          <p:cNvPr id="20" name="标题 1">
            <a:extLst>
              <a:ext uri="{FF2B5EF4-FFF2-40B4-BE49-F238E27FC236}">
                <a16:creationId xmlns:a16="http://schemas.microsoft.com/office/drawing/2014/main" id="{CF674E9F-6D6A-684C-5812-5E211437C0C4}"/>
              </a:ext>
            </a:extLst>
          </p:cNvPr>
          <p:cNvSpPr txBox="1">
            <a:spLocks/>
          </p:cNvSpPr>
          <p:nvPr/>
        </p:nvSpPr>
        <p:spPr>
          <a:xfrm>
            <a:off x="838200" y="323849"/>
            <a:ext cx="10515600" cy="552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案例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 天然提取物的药效机制解析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D995658-2CF0-3471-AF7D-60140BDCB35C}"/>
              </a:ext>
            </a:extLst>
          </p:cNvPr>
          <p:cNvGrpSpPr/>
          <p:nvPr/>
        </p:nvGrpSpPr>
        <p:grpSpPr>
          <a:xfrm>
            <a:off x="733918" y="974984"/>
            <a:ext cx="8015354" cy="5356896"/>
            <a:chOff x="923636" y="876300"/>
            <a:chExt cx="8310667" cy="5554264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8263689-B7A7-2D24-D87C-0D3097DD19E5}"/>
                </a:ext>
              </a:extLst>
            </p:cNvPr>
            <p:cNvGrpSpPr/>
            <p:nvPr/>
          </p:nvGrpSpPr>
          <p:grpSpPr>
            <a:xfrm>
              <a:off x="1037928" y="956342"/>
              <a:ext cx="7998729" cy="5474222"/>
              <a:chOff x="1553293" y="304456"/>
              <a:chExt cx="8298631" cy="5679469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D884D3B5-6DDE-E93B-29D0-200EF18418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3293" y="304456"/>
                <a:ext cx="3985861" cy="3110534"/>
              </a:xfrm>
              <a:prstGeom prst="rect">
                <a:avLst/>
              </a:prstGeom>
            </p:spPr>
          </p:pic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E0CB9308-BB7B-CA38-C051-6DB0A17D86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3820" y="331833"/>
                <a:ext cx="3908104" cy="5586998"/>
              </a:xfrm>
              <a:prstGeom prst="rect">
                <a:avLst/>
              </a:prstGeom>
            </p:spPr>
          </p:pic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6AFECF8D-576A-23A7-C691-0D48B73AF6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3631" y="3527502"/>
                <a:ext cx="3985861" cy="2456423"/>
              </a:xfrm>
              <a:prstGeom prst="rect">
                <a:avLst/>
              </a:prstGeom>
            </p:spPr>
          </p:pic>
        </p:grp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2F2A38C-BD30-9AB5-578B-D47183DEB6C8}"/>
                </a:ext>
              </a:extLst>
            </p:cNvPr>
            <p:cNvSpPr/>
            <p:nvPr/>
          </p:nvSpPr>
          <p:spPr>
            <a:xfrm>
              <a:off x="923636" y="876300"/>
              <a:ext cx="4061939" cy="555426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2825047-FF21-3717-EE81-105524C80723}"/>
                </a:ext>
              </a:extLst>
            </p:cNvPr>
            <p:cNvSpPr/>
            <p:nvPr/>
          </p:nvSpPr>
          <p:spPr>
            <a:xfrm>
              <a:off x="5172364" y="876300"/>
              <a:ext cx="4061939" cy="555426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A9D8C2EE-0896-4F8F-D0AF-685A5AA2ED8F}"/>
              </a:ext>
            </a:extLst>
          </p:cNvPr>
          <p:cNvSpPr txBox="1"/>
          <p:nvPr/>
        </p:nvSpPr>
        <p:spPr>
          <a:xfrm>
            <a:off x="6468538" y="6457372"/>
            <a:ext cx="982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Figure.2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BAD881-6897-8649-9C8F-4A4AD3376FFF}"/>
              </a:ext>
            </a:extLst>
          </p:cNvPr>
          <p:cNvSpPr txBox="1"/>
          <p:nvPr/>
        </p:nvSpPr>
        <p:spPr>
          <a:xfrm>
            <a:off x="2133604" y="6457372"/>
            <a:ext cx="982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Figure.1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145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A53AD232-7515-74EC-9A35-686F73531A9A}"/>
              </a:ext>
            </a:extLst>
          </p:cNvPr>
          <p:cNvGrpSpPr/>
          <p:nvPr/>
        </p:nvGrpSpPr>
        <p:grpSpPr>
          <a:xfrm>
            <a:off x="961487" y="909491"/>
            <a:ext cx="9680297" cy="5404441"/>
            <a:chOff x="913361" y="582232"/>
            <a:chExt cx="9680297" cy="5404441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2E1A0D7-83FB-C6C2-801F-657525702C6B}"/>
                </a:ext>
              </a:extLst>
            </p:cNvPr>
            <p:cNvSpPr/>
            <p:nvPr/>
          </p:nvSpPr>
          <p:spPr>
            <a:xfrm>
              <a:off x="4859338" y="3462724"/>
              <a:ext cx="2373131" cy="408174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sz="2000" b="1" dirty="0">
                  <a:latin typeface="华文楷体"/>
                  <a:ea typeface="华文楷体"/>
                  <a:sym typeface="华文楷体"/>
                </a:rPr>
                <a:t>寻找结合表位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0892C4D-9781-CD3A-CF45-E197D68940E0}"/>
                </a:ext>
              </a:extLst>
            </p:cNvPr>
            <p:cNvSpPr/>
            <p:nvPr/>
          </p:nvSpPr>
          <p:spPr>
            <a:xfrm>
              <a:off x="4859338" y="2404838"/>
              <a:ext cx="2373131" cy="408174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sz="2000" b="1" dirty="0">
                  <a:latin typeface="华文楷体"/>
                  <a:ea typeface="华文楷体"/>
                  <a:sym typeface="华文楷体"/>
                </a:rPr>
                <a:t>验证结合</a:t>
              </a:r>
            </a:p>
          </p:txBody>
        </p:sp>
        <p:sp>
          <p:nvSpPr>
            <p:cNvPr id="13" name="下箭头 46">
              <a:extLst>
                <a:ext uri="{FF2B5EF4-FFF2-40B4-BE49-F238E27FC236}">
                  <a16:creationId xmlns:a16="http://schemas.microsoft.com/office/drawing/2014/main" id="{434CC148-7FAE-57B2-00A6-1203793BD5EE}"/>
                </a:ext>
              </a:extLst>
            </p:cNvPr>
            <p:cNvSpPr/>
            <p:nvPr/>
          </p:nvSpPr>
          <p:spPr>
            <a:xfrm>
              <a:off x="5900475" y="2946913"/>
              <a:ext cx="399048" cy="38191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72E1604-A684-E5E8-4743-F107B2D32E50}"/>
                </a:ext>
              </a:extLst>
            </p:cNvPr>
            <p:cNvSpPr/>
            <p:nvPr/>
          </p:nvSpPr>
          <p:spPr>
            <a:xfrm>
              <a:off x="4859338" y="1346952"/>
              <a:ext cx="2373131" cy="408174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sz="2000" b="1" dirty="0">
                  <a:latin typeface="华文楷体"/>
                  <a:ea typeface="华文楷体"/>
                  <a:sym typeface="华文楷体"/>
                </a:rPr>
                <a:t>靶标捕获</a:t>
              </a:r>
              <a:endParaRPr lang="en-US" altLang="zh-CN" sz="2000" b="1" dirty="0">
                <a:latin typeface="华文楷体"/>
                <a:ea typeface="华文楷体"/>
              </a:endParaRPr>
            </a:p>
          </p:txBody>
        </p:sp>
        <p:sp>
          <p:nvSpPr>
            <p:cNvPr id="15" name="下箭头 48">
              <a:extLst>
                <a:ext uri="{FF2B5EF4-FFF2-40B4-BE49-F238E27FC236}">
                  <a16:creationId xmlns:a16="http://schemas.microsoft.com/office/drawing/2014/main" id="{E5D207E6-9EEA-8ACE-9E20-FA372829C88E}"/>
                </a:ext>
              </a:extLst>
            </p:cNvPr>
            <p:cNvSpPr/>
            <p:nvPr/>
          </p:nvSpPr>
          <p:spPr>
            <a:xfrm>
              <a:off x="5900475" y="1889027"/>
              <a:ext cx="399048" cy="38191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31D1235-ED8E-E2AE-D1DB-5A8ABA38816E}"/>
                </a:ext>
              </a:extLst>
            </p:cNvPr>
            <p:cNvSpPr/>
            <p:nvPr/>
          </p:nvSpPr>
          <p:spPr>
            <a:xfrm>
              <a:off x="4859338" y="4520610"/>
              <a:ext cx="2373131" cy="408174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sz="2000" b="1" dirty="0">
                  <a:latin typeface="华文楷体"/>
                  <a:ea typeface="华文楷体"/>
                  <a:sym typeface="华文楷体"/>
                </a:rPr>
                <a:t>验证结合表位</a:t>
              </a:r>
            </a:p>
          </p:txBody>
        </p:sp>
        <p:sp>
          <p:nvSpPr>
            <p:cNvPr id="17" name="下箭头 46">
              <a:extLst>
                <a:ext uri="{FF2B5EF4-FFF2-40B4-BE49-F238E27FC236}">
                  <a16:creationId xmlns:a16="http://schemas.microsoft.com/office/drawing/2014/main" id="{C9D52A6A-E967-3B8C-8D5D-C6DD13AF536E}"/>
                </a:ext>
              </a:extLst>
            </p:cNvPr>
            <p:cNvSpPr/>
            <p:nvPr/>
          </p:nvSpPr>
          <p:spPr>
            <a:xfrm>
              <a:off x="5900475" y="4004799"/>
              <a:ext cx="399048" cy="38191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9" name="下箭头 46">
              <a:extLst>
                <a:ext uri="{FF2B5EF4-FFF2-40B4-BE49-F238E27FC236}">
                  <a16:creationId xmlns:a16="http://schemas.microsoft.com/office/drawing/2014/main" id="{7C51B8AF-9311-F790-0C33-B525A34DD5DC}"/>
                </a:ext>
              </a:extLst>
            </p:cNvPr>
            <p:cNvSpPr/>
            <p:nvPr/>
          </p:nvSpPr>
          <p:spPr>
            <a:xfrm>
              <a:off x="5900475" y="5062685"/>
              <a:ext cx="399048" cy="38191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678B417-0409-B323-FC12-EA0C89F2DEF2}"/>
                </a:ext>
              </a:extLst>
            </p:cNvPr>
            <p:cNvSpPr/>
            <p:nvPr/>
          </p:nvSpPr>
          <p:spPr>
            <a:xfrm>
              <a:off x="4859338" y="5578499"/>
              <a:ext cx="2373131" cy="408174"/>
            </a:xfrm>
            <a:prstGeom prst="rect">
              <a:avLst/>
            </a:prstGeom>
            <a:ln>
              <a:solidFill>
                <a:schemeClr val="tx1"/>
              </a:solidFill>
              <a:prstDash val="dashDot"/>
            </a:ln>
          </p:spPr>
          <p:txBody>
            <a:bodyPr wrap="square">
              <a:spAutoFit/>
            </a:bodyPr>
            <a:lstStyle/>
            <a:p>
              <a:pPr algn="ctr"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sz="2000" b="1" dirty="0">
                  <a:latin typeface="华文楷体"/>
                  <a:ea typeface="华文楷体"/>
                  <a:cs typeface="华文楷体"/>
                  <a:sym typeface="华文楷体"/>
                </a:rPr>
                <a:t>阐明药物分子机制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0A4AE8-0555-1F7E-CF14-BDD784C03934}"/>
                </a:ext>
              </a:extLst>
            </p:cNvPr>
            <p:cNvSpPr/>
            <p:nvPr/>
          </p:nvSpPr>
          <p:spPr>
            <a:xfrm>
              <a:off x="1943235" y="1619706"/>
              <a:ext cx="2294917" cy="912686"/>
            </a:xfrm>
            <a:prstGeom prst="rect">
              <a:avLst/>
            </a:prstGeom>
            <a:ln>
              <a:noFill/>
              <a:prstDash val="dashDot"/>
            </a:ln>
          </p:spPr>
          <p:txBody>
            <a:bodyPr wrap="square">
              <a:spAutoFit/>
            </a:bodyPr>
            <a:lstStyle/>
            <a:p>
              <a:pPr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en-US" altLang="zh-CN" sz="2000" b="1" dirty="0">
                  <a:solidFill>
                    <a:srgbClr val="CC3300"/>
                  </a:solidFill>
                  <a:latin typeface="华文楷体"/>
                  <a:ea typeface="华文楷体"/>
                  <a:cs typeface="华文楷体"/>
                  <a:sym typeface="华文楷体"/>
                </a:rPr>
                <a:t>Step 1:</a:t>
              </a:r>
            </a:p>
            <a:p>
              <a:pPr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sz="2000" b="1" dirty="0">
                  <a:solidFill>
                    <a:srgbClr val="CC3300"/>
                  </a:solidFill>
                  <a:latin typeface="华文楷体"/>
                  <a:ea typeface="华文楷体"/>
                  <a:cs typeface="华文楷体"/>
                  <a:sym typeface="华文楷体"/>
                </a:rPr>
                <a:t>确认药物靶点</a:t>
              </a:r>
              <a:endParaRPr lang="zh-CN" altLang="en-US" sz="2000" b="1" dirty="0">
                <a:latin typeface="华文楷体"/>
                <a:ea typeface="华文楷体"/>
                <a:cs typeface="华文楷体"/>
                <a:sym typeface="华文楷体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E0977B6-0AE7-3E31-9091-C8EC3A0D3CFA}"/>
                </a:ext>
              </a:extLst>
            </p:cNvPr>
            <p:cNvSpPr/>
            <p:nvPr/>
          </p:nvSpPr>
          <p:spPr>
            <a:xfrm>
              <a:off x="1943235" y="3726117"/>
              <a:ext cx="2294916" cy="912686"/>
            </a:xfrm>
            <a:prstGeom prst="rect">
              <a:avLst/>
            </a:prstGeom>
            <a:ln>
              <a:noFill/>
              <a:prstDash val="dashDot"/>
            </a:ln>
          </p:spPr>
          <p:txBody>
            <a:bodyPr wrap="square">
              <a:spAutoFit/>
            </a:bodyPr>
            <a:lstStyle/>
            <a:p>
              <a:pPr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en-US" altLang="zh-CN" sz="2000" b="1" dirty="0">
                  <a:solidFill>
                    <a:srgbClr val="CC3300"/>
                  </a:solidFill>
                  <a:latin typeface="华文楷体"/>
                  <a:ea typeface="华文楷体"/>
                  <a:cs typeface="华文楷体"/>
                  <a:sym typeface="华文楷体"/>
                </a:rPr>
                <a:t>Step 2:</a:t>
              </a:r>
            </a:p>
            <a:p>
              <a:pPr defTabSz="642915">
                <a:lnSpc>
                  <a:spcPct val="120000"/>
                </a:lnSpc>
                <a:spcBef>
                  <a:spcPts val="844"/>
                </a:spcBef>
                <a:defRPr sz="1800"/>
              </a:pPr>
              <a:r>
                <a:rPr lang="zh-CN" altLang="en-US" sz="2000" b="1" dirty="0">
                  <a:solidFill>
                    <a:srgbClr val="CC3300"/>
                  </a:solidFill>
                  <a:latin typeface="华文楷体"/>
                  <a:ea typeface="华文楷体"/>
                  <a:cs typeface="华文楷体"/>
                  <a:sym typeface="华文楷体"/>
                </a:rPr>
                <a:t>亚结构药效动力学</a:t>
              </a:r>
              <a:endParaRPr lang="zh-CN" altLang="en-US" sz="2000" b="1" dirty="0">
                <a:latin typeface="华文楷体"/>
                <a:ea typeface="华文楷体"/>
                <a:cs typeface="华文楷体"/>
                <a:sym typeface="华文楷体"/>
              </a:endParaRPr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3E89F884-AEC8-FF17-1259-66CC1D493040}"/>
                </a:ext>
              </a:extLst>
            </p:cNvPr>
            <p:cNvGrpSpPr/>
            <p:nvPr/>
          </p:nvGrpSpPr>
          <p:grpSpPr>
            <a:xfrm>
              <a:off x="7106479" y="582232"/>
              <a:ext cx="3487179" cy="4370619"/>
              <a:chOff x="6814128" y="582232"/>
              <a:chExt cx="3487179" cy="4370619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4D1DD49-6D24-D1CD-5F96-6BFF54465723}"/>
                  </a:ext>
                </a:extLst>
              </p:cNvPr>
              <p:cNvSpPr txBox="1"/>
              <p:nvPr/>
            </p:nvSpPr>
            <p:spPr>
              <a:xfrm>
                <a:off x="6997007" y="1154733"/>
                <a:ext cx="3236923" cy="5900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平台</a:t>
                </a:r>
                <a:r>
                  <a:rPr lang="en-US" altLang="zh-CN" sz="2400" b="1" dirty="0">
                    <a:effectLst>
                      <a:glow rad="63500">
                        <a:schemeClr val="accent3">
                          <a:satMod val="175000"/>
                          <a:alpha val="40000"/>
                        </a:schemeClr>
                      </a:glow>
                    </a:effectLst>
                  </a:rPr>
                  <a:t>1</a:t>
                </a:r>
                <a:r>
                  <a:rPr lang="zh-CN" altLang="en-US" b="1" dirty="0"/>
                  <a:t>：靶标捕获</a:t>
                </a:r>
              </a:p>
            </p:txBody>
          </p:sp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20F665B-C27A-5DDB-4DBC-E48D755A8FA4}"/>
                  </a:ext>
                </a:extLst>
              </p:cNvPr>
              <p:cNvSpPr txBox="1"/>
              <p:nvPr/>
            </p:nvSpPr>
            <p:spPr>
              <a:xfrm>
                <a:off x="6997007" y="3293457"/>
                <a:ext cx="3236923" cy="5900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平台</a:t>
                </a:r>
                <a:r>
                  <a:rPr lang="en-US" altLang="zh-CN" sz="2400" b="1" dirty="0">
                    <a:effectLst>
                      <a:glow rad="63500">
                        <a:schemeClr val="accent3">
                          <a:satMod val="175000"/>
                          <a:alpha val="40000"/>
                        </a:schemeClr>
                      </a:glow>
                    </a:effectLst>
                  </a:rPr>
                  <a:t>6</a:t>
                </a:r>
                <a:r>
                  <a:rPr lang="zh-CN" altLang="en-US" b="1" dirty="0"/>
                  <a:t>：分子动力学</a:t>
                </a: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1FC56EC-450F-D111-146A-895E06011810}"/>
                  </a:ext>
                </a:extLst>
              </p:cNvPr>
              <p:cNvSpPr txBox="1"/>
              <p:nvPr/>
            </p:nvSpPr>
            <p:spPr>
              <a:xfrm>
                <a:off x="6997007" y="2224095"/>
                <a:ext cx="3236923" cy="5900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b="1" dirty="0"/>
                  <a:t>平台</a:t>
                </a:r>
                <a:r>
                  <a:rPr lang="en-US" altLang="zh-CN" sz="2400" b="1" dirty="0">
                    <a:effectLst>
                      <a:glow rad="63500">
                        <a:schemeClr val="accent3">
                          <a:satMod val="175000"/>
                          <a:alpha val="40000"/>
                        </a:schemeClr>
                      </a:glow>
                    </a:effectLst>
                  </a:rPr>
                  <a:t>2</a:t>
                </a:r>
                <a:r>
                  <a:rPr lang="zh-CN" altLang="en-US" sz="1800" b="1" dirty="0"/>
                  <a:t>：互作分析</a:t>
                </a:r>
                <a:endParaRPr lang="en-US" altLang="zh-CN" sz="1800" b="1" dirty="0"/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9B375AF-33E7-9459-B037-D792F9656C57}"/>
                  </a:ext>
                </a:extLst>
              </p:cNvPr>
              <p:cNvSpPr txBox="1"/>
              <p:nvPr/>
            </p:nvSpPr>
            <p:spPr>
              <a:xfrm>
                <a:off x="7064384" y="4362818"/>
                <a:ext cx="3236923" cy="5900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b="1" dirty="0"/>
                  <a:t>平台</a:t>
                </a:r>
                <a:r>
                  <a:rPr lang="en-US" altLang="zh-CN" sz="2400" b="1" dirty="0">
                    <a:effectLst>
                      <a:glow rad="63500">
                        <a:schemeClr val="accent3">
                          <a:satMod val="175000"/>
                          <a:alpha val="40000"/>
                        </a:schemeClr>
                      </a:glow>
                    </a:effectLst>
                  </a:rPr>
                  <a:t>7</a:t>
                </a:r>
                <a:r>
                  <a:rPr lang="zh-CN" altLang="en-US" sz="1800" b="1" dirty="0"/>
                  <a:t>：互作分析</a:t>
                </a:r>
                <a:endParaRPr lang="en-US" altLang="zh-CN" sz="1800" b="1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64794DC-61FF-DD29-ECB9-D76D906C80CD}"/>
                  </a:ext>
                </a:extLst>
              </p:cNvPr>
              <p:cNvSpPr txBox="1"/>
              <p:nvPr/>
            </p:nvSpPr>
            <p:spPr>
              <a:xfrm>
                <a:off x="6814128" y="582232"/>
                <a:ext cx="3236923" cy="507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lnSpc>
                    <a:spcPct val="150000"/>
                  </a:lnSpc>
                </a:pPr>
                <a:r>
                  <a:rPr lang="zh-CN" altLang="en-US" sz="2000" b="1" u="sng" dirty="0"/>
                  <a:t>实现方式</a:t>
                </a:r>
              </a:p>
            </p:txBody>
          </p: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EF26B95-F7CE-C37C-1024-7FE8D8D7D018}"/>
                </a:ext>
              </a:extLst>
            </p:cNvPr>
            <p:cNvSpPr txBox="1"/>
            <p:nvPr/>
          </p:nvSpPr>
          <p:spPr>
            <a:xfrm>
              <a:off x="4210001" y="582232"/>
              <a:ext cx="3236923" cy="507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 algn="ctr">
                <a:lnSpc>
                  <a:spcPct val="150000"/>
                </a:lnSpc>
              </a:pPr>
              <a:r>
                <a:rPr lang="zh-CN" altLang="en-US" sz="2000" b="1" u="sng" dirty="0"/>
                <a:t>研究手段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B587CC2-69DA-9EEF-4242-4F0008092139}"/>
                </a:ext>
              </a:extLst>
            </p:cNvPr>
            <p:cNvSpPr txBox="1"/>
            <p:nvPr/>
          </p:nvSpPr>
          <p:spPr>
            <a:xfrm>
              <a:off x="913361" y="582232"/>
              <a:ext cx="3236923" cy="507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 algn="ctr">
                <a:lnSpc>
                  <a:spcPct val="150000"/>
                </a:lnSpc>
              </a:pPr>
              <a:r>
                <a:rPr lang="zh-CN" altLang="en-US" sz="2000" b="1" u="sng" dirty="0"/>
                <a:t>研究目的</a:t>
              </a:r>
            </a:p>
          </p:txBody>
        </p:sp>
        <p:sp>
          <p:nvSpPr>
            <p:cNvPr id="25" name="左大括号 24">
              <a:extLst>
                <a:ext uri="{FF2B5EF4-FFF2-40B4-BE49-F238E27FC236}">
                  <a16:creationId xmlns:a16="http://schemas.microsoft.com/office/drawing/2014/main" id="{33C7CEDA-35FF-3AA9-3BCB-5206957B866E}"/>
                </a:ext>
              </a:extLst>
            </p:cNvPr>
            <p:cNvSpPr/>
            <p:nvPr/>
          </p:nvSpPr>
          <p:spPr>
            <a:xfrm>
              <a:off x="4234276" y="1418750"/>
              <a:ext cx="119208" cy="1349144"/>
            </a:xfrm>
            <a:prstGeom prst="leftBrace">
              <a:avLst>
                <a:gd name="adj1" fmla="val 60286"/>
                <a:gd name="adj2" fmla="val 50000"/>
              </a:avLst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左大括号 25">
              <a:extLst>
                <a:ext uri="{FF2B5EF4-FFF2-40B4-BE49-F238E27FC236}">
                  <a16:creationId xmlns:a16="http://schemas.microsoft.com/office/drawing/2014/main" id="{FADEA32F-ADA6-4554-F167-5DE43A918BF7}"/>
                </a:ext>
              </a:extLst>
            </p:cNvPr>
            <p:cNvSpPr/>
            <p:nvPr/>
          </p:nvSpPr>
          <p:spPr>
            <a:xfrm>
              <a:off x="4234276" y="3539816"/>
              <a:ext cx="119208" cy="1349144"/>
            </a:xfrm>
            <a:prstGeom prst="leftBrace">
              <a:avLst>
                <a:gd name="adj1" fmla="val 60286"/>
                <a:gd name="adj2" fmla="val 50000"/>
              </a:avLst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标题 1">
            <a:extLst>
              <a:ext uri="{FF2B5EF4-FFF2-40B4-BE49-F238E27FC236}">
                <a16:creationId xmlns:a16="http://schemas.microsoft.com/office/drawing/2014/main" id="{98BE7862-51AA-E29C-6CCC-2472A99A6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23" y="193835"/>
            <a:ext cx="10515600" cy="55245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研究流程总结</a:t>
            </a:r>
          </a:p>
        </p:txBody>
      </p:sp>
    </p:spTree>
    <p:extLst>
      <p:ext uri="{BB962C8B-B14F-4D97-AF65-F5344CB8AC3E}">
        <p14:creationId xmlns:p14="http://schemas.microsoft.com/office/powerpoint/2010/main" val="4098909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0" y="376026"/>
            <a:ext cx="12191999" cy="55245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研 究 方 向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07CB3A5-4F33-23A2-05AF-E558969789A1}"/>
              </a:ext>
            </a:extLst>
          </p:cNvPr>
          <p:cNvGrpSpPr/>
          <p:nvPr/>
        </p:nvGrpSpPr>
        <p:grpSpPr>
          <a:xfrm>
            <a:off x="2057017" y="968029"/>
            <a:ext cx="8964134" cy="5513945"/>
            <a:chOff x="2141684" y="1086482"/>
            <a:chExt cx="8964134" cy="551394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EBFDBD82-F118-4D0E-A30E-84A03853F248}"/>
                </a:ext>
              </a:extLst>
            </p:cNvPr>
            <p:cNvSpPr txBox="1"/>
            <p:nvPr/>
          </p:nvSpPr>
          <p:spPr>
            <a:xfrm>
              <a:off x="2141684" y="1086482"/>
              <a:ext cx="8964134" cy="5513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sz="2400" b="1" dirty="0"/>
                <a:t>已知药物，分析靶蛋白（                                             ）</a:t>
              </a:r>
              <a:endParaRPr lang="en-US" altLang="zh-CN" sz="2400" b="1" dirty="0"/>
            </a:p>
            <a:p>
              <a:pPr marL="7429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/>
                <a:t>平台</a:t>
              </a:r>
              <a:r>
                <a:rPr lang="en-US" altLang="zh-CN" b="1" dirty="0"/>
                <a:t>1</a:t>
              </a:r>
              <a:r>
                <a:rPr lang="zh-CN" altLang="en-US" b="1" dirty="0"/>
                <a:t>：靶标捕获 </a:t>
              </a:r>
              <a:r>
                <a:rPr lang="en-US" altLang="zh-CN" b="1" dirty="0"/>
                <a:t> </a:t>
              </a:r>
              <a:endParaRPr lang="zh-CN" altLang="en-US" b="1" dirty="0"/>
            </a:p>
            <a:p>
              <a:pPr marL="7429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>
                  <a:solidFill>
                    <a:srgbClr val="C00000"/>
                  </a:solidFill>
                </a:rPr>
                <a:t>平台</a:t>
              </a:r>
              <a:r>
                <a:rPr lang="en-US" altLang="zh-CN" b="1" dirty="0">
                  <a:solidFill>
                    <a:srgbClr val="C00000"/>
                  </a:solidFill>
                </a:rPr>
                <a:t>2</a:t>
              </a:r>
              <a:r>
                <a:rPr lang="zh-CN" altLang="en-US" b="1" dirty="0">
                  <a:solidFill>
                    <a:srgbClr val="C00000"/>
                  </a:solidFill>
                </a:rPr>
                <a:t>：互作分析 </a:t>
              </a:r>
              <a:r>
                <a:rPr lang="en-US" altLang="zh-CN" b="1" dirty="0">
                  <a:solidFill>
                    <a:srgbClr val="C00000"/>
                  </a:solidFill>
                </a:rPr>
                <a:t> </a:t>
              </a:r>
            </a:p>
            <a:p>
              <a:pPr marL="2857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sz="2400" b="1" dirty="0"/>
                <a:t>已知靶蛋白，分析药物（                                             ）</a:t>
              </a:r>
              <a:endParaRPr lang="en-US" altLang="zh-CN" sz="2400" b="1" dirty="0"/>
            </a:p>
            <a:p>
              <a:pPr marL="7429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/>
                <a:t>平台</a:t>
              </a:r>
              <a:r>
                <a:rPr lang="en-US" altLang="zh-CN" b="1" dirty="0"/>
                <a:t>3</a:t>
              </a:r>
              <a:r>
                <a:rPr lang="zh-CN" altLang="en-US" b="1" dirty="0"/>
                <a:t>：高通量对接筛选 </a:t>
              </a:r>
              <a:r>
                <a:rPr lang="en-US" altLang="zh-CN" b="1" dirty="0"/>
                <a:t> </a:t>
              </a:r>
            </a:p>
            <a:p>
              <a:pPr marL="7429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/>
                <a:t>平台</a:t>
              </a:r>
              <a:r>
                <a:rPr lang="en-US" altLang="zh-CN" b="1" dirty="0"/>
                <a:t>4</a:t>
              </a:r>
              <a:r>
                <a:rPr lang="zh-CN" altLang="en-US" b="1" dirty="0"/>
                <a:t>：高通量实体库筛选 </a:t>
              </a:r>
              <a:r>
                <a:rPr lang="en-US" altLang="zh-CN" b="1" dirty="0"/>
                <a:t> </a:t>
              </a:r>
            </a:p>
            <a:p>
              <a:pPr marL="2857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sz="2400" b="1" dirty="0"/>
                <a:t>已知药物及靶蛋白，分析亚结构药效机制（                         ）</a:t>
              </a:r>
              <a:endParaRPr lang="en-US" altLang="zh-CN" sz="2400" b="1" dirty="0"/>
            </a:p>
            <a:p>
              <a:pPr marL="7429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/>
                <a:t>平台</a:t>
              </a:r>
              <a:r>
                <a:rPr lang="en-US" altLang="zh-CN" b="1" dirty="0"/>
                <a:t>5</a:t>
              </a:r>
              <a:r>
                <a:rPr lang="zh-CN" altLang="en-US" b="1" dirty="0"/>
                <a:t>：表位捕获平台</a:t>
              </a:r>
              <a:endParaRPr lang="en-US" altLang="zh-CN" b="1" dirty="0"/>
            </a:p>
            <a:p>
              <a:pPr marL="7429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/>
                <a:t>平台</a:t>
              </a:r>
              <a:r>
                <a:rPr lang="en-US" altLang="zh-CN" b="1" dirty="0"/>
                <a:t>6</a:t>
              </a:r>
              <a:r>
                <a:rPr lang="zh-CN" altLang="en-US" b="1" dirty="0"/>
                <a:t>：药效分子动力学运算平台</a:t>
              </a:r>
              <a:endParaRPr lang="en-US" altLang="zh-CN" b="1" dirty="0"/>
            </a:p>
            <a:p>
              <a:pPr marL="7429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/>
                <a:t>平台</a:t>
              </a:r>
              <a:r>
                <a:rPr lang="en-US" altLang="zh-CN" b="1" dirty="0"/>
                <a:t>7</a:t>
              </a:r>
              <a:r>
                <a:rPr lang="zh-CN" altLang="en-US" b="1" dirty="0"/>
                <a:t>：药物口袋反向验证平台</a:t>
              </a:r>
              <a:endParaRPr lang="en-US" altLang="zh-CN" b="1" dirty="0"/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2B1D95AC-1B34-55DA-6263-1838B95F0A17}"/>
                </a:ext>
              </a:extLst>
            </p:cNvPr>
            <p:cNvGrpSpPr/>
            <p:nvPr/>
          </p:nvGrpSpPr>
          <p:grpSpPr>
            <a:xfrm>
              <a:off x="6049400" y="1321082"/>
              <a:ext cx="3385614" cy="319433"/>
              <a:chOff x="10325098" y="2914385"/>
              <a:chExt cx="3385614" cy="319433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0637FEF1-B37D-61F3-B9E2-8992D42B92A4}"/>
                  </a:ext>
                </a:extLst>
              </p:cNvPr>
              <p:cNvSpPr/>
              <p:nvPr/>
            </p:nvSpPr>
            <p:spPr>
              <a:xfrm>
                <a:off x="10325098" y="2914385"/>
                <a:ext cx="1210878" cy="319433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药物</a:t>
                </a:r>
                <a:endParaRPr lang="en-US" altLang="zh-CN" sz="105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40B4757-2FFD-158B-1F6B-44C12E99DA38}"/>
                  </a:ext>
                </a:extLst>
              </p:cNvPr>
              <p:cNvSpPr/>
              <p:nvPr/>
            </p:nvSpPr>
            <p:spPr>
              <a:xfrm>
                <a:off x="12499834" y="2914385"/>
                <a:ext cx="1210878" cy="31943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靶蛋白</a:t>
                </a:r>
                <a:endParaRPr lang="en-US" altLang="zh-CN" sz="105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6B162826-1794-2D51-1E69-3CC599F94A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04936" y="3063344"/>
                <a:ext cx="629318" cy="0"/>
              </a:xfrm>
              <a:prstGeom prst="line">
                <a:avLst/>
              </a:prstGeom>
              <a:ln w="76200"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E5D84952-D713-E3CE-7389-192A1D6162D3}"/>
                </a:ext>
              </a:extLst>
            </p:cNvPr>
            <p:cNvGrpSpPr/>
            <p:nvPr/>
          </p:nvGrpSpPr>
          <p:grpSpPr>
            <a:xfrm>
              <a:off x="6073893" y="2955356"/>
              <a:ext cx="3342946" cy="319433"/>
              <a:chOff x="10367766" y="4117100"/>
              <a:chExt cx="3342946" cy="319433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7629624-F9BF-702A-149D-959C7AD61D7D}"/>
                  </a:ext>
                </a:extLst>
              </p:cNvPr>
              <p:cNvSpPr/>
              <p:nvPr/>
            </p:nvSpPr>
            <p:spPr>
              <a:xfrm>
                <a:off x="12499834" y="4117100"/>
                <a:ext cx="1210878" cy="319433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药物</a:t>
                </a:r>
                <a:endParaRPr lang="en-US" altLang="zh-CN" sz="105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1757CAB-E398-AEA5-A4A1-E025C3530F9E}"/>
                  </a:ext>
                </a:extLst>
              </p:cNvPr>
              <p:cNvSpPr/>
              <p:nvPr/>
            </p:nvSpPr>
            <p:spPr>
              <a:xfrm>
                <a:off x="10367766" y="4117100"/>
                <a:ext cx="1210878" cy="31943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靶蛋白</a:t>
                </a:r>
                <a:endParaRPr lang="en-US" altLang="zh-CN" sz="105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FEA51814-FAE0-7DB9-5B9F-1382EFDD99A5}"/>
                  </a:ext>
                </a:extLst>
              </p:cNvPr>
              <p:cNvCxnSpPr/>
              <p:nvPr/>
            </p:nvCxnSpPr>
            <p:spPr>
              <a:xfrm>
                <a:off x="11704936" y="4276816"/>
                <a:ext cx="629318" cy="0"/>
              </a:xfrm>
              <a:prstGeom prst="line">
                <a:avLst/>
              </a:prstGeom>
              <a:ln w="76200"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E44B56FF-175E-42ED-E239-C679D107A9A0}"/>
                </a:ext>
              </a:extLst>
            </p:cNvPr>
            <p:cNvGrpSpPr/>
            <p:nvPr/>
          </p:nvGrpSpPr>
          <p:grpSpPr>
            <a:xfrm>
              <a:off x="8346223" y="4542251"/>
              <a:ext cx="2037464" cy="319433"/>
              <a:chOff x="8263673" y="4514734"/>
              <a:chExt cx="2037464" cy="319433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B9479092-FC53-ED32-84C3-F09E6D24C2F0}"/>
                  </a:ext>
                </a:extLst>
              </p:cNvPr>
              <p:cNvGrpSpPr/>
              <p:nvPr/>
            </p:nvGrpSpPr>
            <p:grpSpPr>
              <a:xfrm>
                <a:off x="8263673" y="4514734"/>
                <a:ext cx="2037464" cy="319433"/>
                <a:chOff x="10367766" y="4117100"/>
                <a:chExt cx="2037464" cy="319433"/>
              </a:xfrm>
            </p:grpSpPr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0A30C108-DA8A-CBC9-B858-43A7F3A1E111}"/>
                    </a:ext>
                  </a:extLst>
                </p:cNvPr>
                <p:cNvSpPr/>
                <p:nvPr/>
              </p:nvSpPr>
              <p:spPr>
                <a:xfrm>
                  <a:off x="10749997" y="4117100"/>
                  <a:ext cx="382231" cy="319433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3">
                  <a:schemeClr val="accent4"/>
                </a:fillRef>
                <a:effectRef idx="2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20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药</a:t>
                  </a:r>
                  <a:endParaRPr lang="en-US" altLang="zh-CN" sz="105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1D8967F6-5DF2-4DED-6310-992CEAA7A33E}"/>
                    </a:ext>
                  </a:extLst>
                </p:cNvPr>
                <p:cNvSpPr/>
                <p:nvPr/>
              </p:nvSpPr>
              <p:spPr>
                <a:xfrm>
                  <a:off x="10367766" y="4117100"/>
                  <a:ext cx="382231" cy="319433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20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靶</a:t>
                  </a:r>
                  <a:endParaRPr lang="en-US" altLang="zh-CN" sz="105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7314BBFE-DF49-13DD-5CD6-1AB1C23E138A}"/>
                    </a:ext>
                  </a:extLst>
                </p:cNvPr>
                <p:cNvSpPr/>
                <p:nvPr/>
              </p:nvSpPr>
              <p:spPr>
                <a:xfrm>
                  <a:off x="11672864" y="4117100"/>
                  <a:ext cx="732366" cy="319433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20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机制</a:t>
                  </a:r>
                  <a:endParaRPr lang="en-US" altLang="zh-CN" sz="105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2AC62DCB-4027-5843-0979-D9429F664E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98046" y="4674450"/>
                <a:ext cx="406818" cy="0"/>
              </a:xfrm>
              <a:prstGeom prst="line">
                <a:avLst/>
              </a:prstGeom>
              <a:ln w="76200"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19156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PR原理.jpg" descr="C:\Users\caesar\Desktop\SPR原理.jpg">
            <a:extLst>
              <a:ext uri="{FF2B5EF4-FFF2-40B4-BE49-F238E27FC236}">
                <a16:creationId xmlns:a16="http://schemas.microsoft.com/office/drawing/2014/main" id="{FEDA8A09-0471-475D-B14D-C0DFB015D345}"/>
              </a:ext>
            </a:extLst>
          </p:cNvPr>
          <p:cNvPicPr/>
          <p:nvPr/>
        </p:nvPicPr>
        <p:blipFill rotWithShape="1">
          <a:blip r:embed="rId2"/>
          <a:srcRect l="11839" r="5252" b="7452"/>
          <a:stretch/>
        </p:blipFill>
        <p:spPr>
          <a:xfrm>
            <a:off x="935786" y="2142837"/>
            <a:ext cx="3984046" cy="342389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75D5482-C63B-403C-853F-771EA8811563}"/>
              </a:ext>
            </a:extLst>
          </p:cNvPr>
          <p:cNvSpPr/>
          <p:nvPr/>
        </p:nvSpPr>
        <p:spPr>
          <a:xfrm>
            <a:off x="1524895" y="1770651"/>
            <a:ext cx="19303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  <a:t>SPR</a:t>
            </a:r>
            <a:r>
              <a:rPr lang="en-US" altLang="zh-CN" b="1" dirty="0" err="1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  <a:t>i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  <a:t> 技术示意图</a:t>
            </a:r>
            <a:endParaRPr lang="zh-CN" altLang="en-US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CDA037BA-A5A3-2EB1-B2C6-2D16FAB39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1849"/>
            <a:ext cx="10515600" cy="552451"/>
          </a:xfrm>
        </p:spPr>
        <p:txBody>
          <a:bodyPr>
            <a:noAutofit/>
          </a:bodyPr>
          <a:lstStyle/>
          <a:p>
            <a:pPr algn="ctr">
              <a:lnSpc>
                <a:spcPct val="126000"/>
              </a:lnSpc>
            </a:pPr>
            <a:r>
              <a:rPr lang="en-US" altLang="zh-CN" sz="2800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  <a:t>Surface Plasmon Resonance image, 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  <a:t>SPR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  <a:t>i</a:t>
            </a:r>
            <a:br>
              <a:rPr lang="en-US" altLang="zh-CN" sz="2800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</a:br>
            <a:r>
              <a:rPr lang="zh-CN" altLang="en-US" sz="1800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  <a:t>（表面等离子共振成像，第二代</a:t>
            </a:r>
            <a:r>
              <a:rPr lang="en-US" altLang="zh-CN" sz="1800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  <a:t>SPR</a:t>
            </a:r>
            <a:r>
              <a:rPr lang="zh-CN" altLang="en-US" sz="1800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  <a:t>技术）</a:t>
            </a:r>
            <a:endParaRPr lang="zh-CN" altLang="en-US" sz="28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4EDED54-8AC8-EE46-3687-07EF2D181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469" y="1955317"/>
            <a:ext cx="6078581" cy="394859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2686626-3793-7B1F-AE81-D6B8D98C8454}"/>
              </a:ext>
            </a:extLst>
          </p:cNvPr>
          <p:cNvSpPr/>
          <p:nvPr/>
        </p:nvSpPr>
        <p:spPr>
          <a:xfrm>
            <a:off x="8313623" y="200800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  <a:t>测定结合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705FCB-53E1-5EF1-4D15-B5F152B8BAEB}"/>
              </a:ext>
            </a:extLst>
          </p:cNvPr>
          <p:cNvSpPr/>
          <p:nvPr/>
        </p:nvSpPr>
        <p:spPr>
          <a:xfrm>
            <a:off x="10160895" y="231280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  <a:t>测定解离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5632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76D7FD9-6FD4-8E1F-BAA4-9FFFFE217F88}"/>
              </a:ext>
            </a:extLst>
          </p:cNvPr>
          <p:cNvSpPr txBox="1"/>
          <p:nvPr/>
        </p:nvSpPr>
        <p:spPr>
          <a:xfrm>
            <a:off x="2826562" y="506800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/>
            </a:lvl1pPr>
          </a:lstStyle>
          <a:p>
            <a:r>
              <a:rPr lang="zh-CN" altLang="en-US" sz="2400" dirty="0"/>
              <a:t>定量蛋白组学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771360-1362-04A3-2FF7-A18D95579B44}"/>
              </a:ext>
            </a:extLst>
          </p:cNvPr>
          <p:cNvSpPr txBox="1"/>
          <p:nvPr/>
        </p:nvSpPr>
        <p:spPr>
          <a:xfrm>
            <a:off x="7143111" y="5068009"/>
            <a:ext cx="1991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/>
            </a:lvl1pPr>
          </a:lstStyle>
          <a:p>
            <a:r>
              <a:rPr lang="en-US" altLang="zh-CN" sz="2400" dirty="0"/>
              <a:t>Western blot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70D910-BAFB-5F2F-45FA-A8B4A0154D5C}"/>
              </a:ext>
            </a:extLst>
          </p:cNvPr>
          <p:cNvSpPr txBox="1"/>
          <p:nvPr/>
        </p:nvSpPr>
        <p:spPr>
          <a:xfrm>
            <a:off x="2989990" y="1261715"/>
            <a:ext cx="1620957" cy="834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组学分析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E4D3F2-5437-EF82-B74B-10CA953007C7}"/>
              </a:ext>
            </a:extLst>
          </p:cNvPr>
          <p:cNvSpPr txBox="1"/>
          <p:nvPr/>
        </p:nvSpPr>
        <p:spPr>
          <a:xfrm>
            <a:off x="7276962" y="1261715"/>
            <a:ext cx="1620957" cy="834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验证手段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FDBD82-F118-4D0E-A30E-84A03853F248}"/>
              </a:ext>
            </a:extLst>
          </p:cNvPr>
          <p:cNvSpPr txBox="1"/>
          <p:nvPr/>
        </p:nvSpPr>
        <p:spPr>
          <a:xfrm>
            <a:off x="3052925" y="2797783"/>
            <a:ext cx="1495089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靶标捕获</a:t>
            </a:r>
            <a:endParaRPr lang="en-US" altLang="zh-CN" sz="2400" b="1" dirty="0"/>
          </a:p>
          <a:p>
            <a:pPr algn="ctr"/>
            <a:r>
              <a:rPr lang="en-US" altLang="zh-CN" sz="1400" b="1" dirty="0"/>
              <a:t>(</a:t>
            </a:r>
            <a:r>
              <a:rPr lang="zh-CN" altLang="en-US" sz="1400" b="1" dirty="0"/>
              <a:t>靶标蛋白组学</a:t>
            </a:r>
            <a:r>
              <a:rPr lang="en-US" altLang="zh-CN" sz="1400" b="1" dirty="0"/>
              <a:t>)</a:t>
            </a:r>
            <a:endParaRPr lang="zh-CN" altLang="en-US" sz="1400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28F168-02A8-B843-0344-C838914F668E}"/>
              </a:ext>
            </a:extLst>
          </p:cNvPr>
          <p:cNvSpPr txBox="1"/>
          <p:nvPr/>
        </p:nvSpPr>
        <p:spPr>
          <a:xfrm>
            <a:off x="7276962" y="279778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/>
            </a:lvl1pPr>
          </a:lstStyle>
          <a:p>
            <a:r>
              <a:rPr lang="zh-CN" altLang="en-US" sz="2400" dirty="0"/>
              <a:t>亲和力分析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513235-5A3C-0EFF-1BC3-9A7AC65DFA77}"/>
              </a:ext>
            </a:extLst>
          </p:cNvPr>
          <p:cNvSpPr txBox="1"/>
          <p:nvPr/>
        </p:nvSpPr>
        <p:spPr>
          <a:xfrm>
            <a:off x="2826562" y="396602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/>
            </a:lvl1pPr>
          </a:lstStyle>
          <a:p>
            <a:r>
              <a:rPr lang="zh-CN" altLang="en-US" sz="2400" dirty="0"/>
              <a:t>转录组学测序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397B29-DA27-459B-1D5D-C6CAD1AE8B45}"/>
              </a:ext>
            </a:extLst>
          </p:cNvPr>
          <p:cNvSpPr txBox="1"/>
          <p:nvPr/>
        </p:nvSpPr>
        <p:spPr>
          <a:xfrm>
            <a:off x="7414018" y="3966025"/>
            <a:ext cx="1449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/>
            </a:lvl1pPr>
          </a:lstStyle>
          <a:p>
            <a:r>
              <a:rPr lang="en-US" altLang="zh-CN" sz="2400" dirty="0"/>
              <a:t>RT-qPCR</a:t>
            </a:r>
            <a:endParaRPr lang="zh-CN" altLang="en-US" sz="24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F0AB19C-41D4-4C10-14C7-23FA72323587}"/>
              </a:ext>
            </a:extLst>
          </p:cNvPr>
          <p:cNvSpPr/>
          <p:nvPr/>
        </p:nvSpPr>
        <p:spPr>
          <a:xfrm>
            <a:off x="2656840" y="2509981"/>
            <a:ext cx="2287260" cy="334356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429D1CC-636C-2084-1382-F5E46C319639}"/>
              </a:ext>
            </a:extLst>
          </p:cNvPr>
          <p:cNvSpPr/>
          <p:nvPr/>
        </p:nvSpPr>
        <p:spPr>
          <a:xfrm>
            <a:off x="6995106" y="2509981"/>
            <a:ext cx="2287260" cy="334356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5D014A13-486C-D9FC-E657-C5A6BA6EDC50}"/>
              </a:ext>
            </a:extLst>
          </p:cNvPr>
          <p:cNvSpPr/>
          <p:nvPr/>
        </p:nvSpPr>
        <p:spPr>
          <a:xfrm>
            <a:off x="5633775" y="2927549"/>
            <a:ext cx="577516" cy="202131"/>
          </a:xfrm>
          <a:prstGeom prst="rightArrow">
            <a:avLst>
              <a:gd name="adj1" fmla="val 50000"/>
              <a:gd name="adj2" fmla="val 793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5EF5520D-C58C-29E9-8EBA-9442A9C89C1C}"/>
              </a:ext>
            </a:extLst>
          </p:cNvPr>
          <p:cNvSpPr/>
          <p:nvPr/>
        </p:nvSpPr>
        <p:spPr>
          <a:xfrm>
            <a:off x="5633775" y="4095791"/>
            <a:ext cx="577516" cy="202131"/>
          </a:xfrm>
          <a:prstGeom prst="rightArrow">
            <a:avLst>
              <a:gd name="adj1" fmla="val 50000"/>
              <a:gd name="adj2" fmla="val 793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90ADE1E2-F38A-C1DC-1B6E-6E3B916AEC36}"/>
              </a:ext>
            </a:extLst>
          </p:cNvPr>
          <p:cNvSpPr/>
          <p:nvPr/>
        </p:nvSpPr>
        <p:spPr>
          <a:xfrm>
            <a:off x="5633775" y="5197775"/>
            <a:ext cx="577516" cy="202131"/>
          </a:xfrm>
          <a:prstGeom prst="rightArrow">
            <a:avLst>
              <a:gd name="adj1" fmla="val 50000"/>
              <a:gd name="adj2" fmla="val 793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332F029A-7BDB-C667-A145-EE6229F68B1C}"/>
              </a:ext>
            </a:extLst>
          </p:cNvPr>
          <p:cNvSpPr txBox="1">
            <a:spLocks/>
          </p:cNvSpPr>
          <p:nvPr/>
        </p:nvSpPr>
        <p:spPr>
          <a:xfrm>
            <a:off x="838200" y="-619471"/>
            <a:ext cx="10515600" cy="552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zh-CN" altLang="en-US" sz="3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9578EABB-BF21-3A98-57AF-7AFE0440D405}"/>
              </a:ext>
            </a:extLst>
          </p:cNvPr>
          <p:cNvSpPr txBox="1">
            <a:spLocks/>
          </p:cNvSpPr>
          <p:nvPr/>
        </p:nvSpPr>
        <p:spPr>
          <a:xfrm>
            <a:off x="838200" y="454772"/>
            <a:ext cx="10515600" cy="5524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  <a:t>亲和力分析作为互作金标准</a:t>
            </a:r>
          </a:p>
        </p:txBody>
      </p:sp>
    </p:spTree>
    <p:extLst>
      <p:ext uri="{BB962C8B-B14F-4D97-AF65-F5344CB8AC3E}">
        <p14:creationId xmlns:p14="http://schemas.microsoft.com/office/powerpoint/2010/main" val="394067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098FF097-68EA-2C56-6121-1D66DB3927C0}"/>
              </a:ext>
            </a:extLst>
          </p:cNvPr>
          <p:cNvSpPr txBox="1">
            <a:spLocks/>
          </p:cNvSpPr>
          <p:nvPr/>
        </p:nvSpPr>
        <p:spPr>
          <a:xfrm>
            <a:off x="838200" y="323849"/>
            <a:ext cx="10515600" cy="552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多种 亲和力验证手段 的 优势对比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77C0168-601F-973C-7399-DA28026D9D13}"/>
              </a:ext>
            </a:extLst>
          </p:cNvPr>
          <p:cNvGrpSpPr/>
          <p:nvPr/>
        </p:nvGrpSpPr>
        <p:grpSpPr>
          <a:xfrm>
            <a:off x="2926081" y="1046415"/>
            <a:ext cx="6231669" cy="5439609"/>
            <a:chOff x="2983832" y="1133043"/>
            <a:chExt cx="6231669" cy="5439609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EA8EC5E8-FB53-1FB2-F307-586C726FA1C9}"/>
                </a:ext>
              </a:extLst>
            </p:cNvPr>
            <p:cNvGrpSpPr/>
            <p:nvPr/>
          </p:nvGrpSpPr>
          <p:grpSpPr>
            <a:xfrm>
              <a:off x="2983832" y="1133043"/>
              <a:ext cx="6224336" cy="5234536"/>
              <a:chOff x="2983832" y="1133043"/>
              <a:chExt cx="6224336" cy="5234536"/>
            </a:xfrm>
          </p:grpSpPr>
          <p:pic>
            <p:nvPicPr>
              <p:cNvPr id="5" name="图片 4" descr="表格&#10;&#10;描述已自动生成">
                <a:extLst>
                  <a:ext uri="{FF2B5EF4-FFF2-40B4-BE49-F238E27FC236}">
                    <a16:creationId xmlns:a16="http://schemas.microsoft.com/office/drawing/2014/main" id="{2F3CD310-167A-3E44-0171-90D4AE450E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83832" y="1498455"/>
                <a:ext cx="6224336" cy="4869124"/>
              </a:xfrm>
              <a:prstGeom prst="rect">
                <a:avLst/>
              </a:prstGeom>
            </p:spPr>
          </p:pic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3742691-AC3B-B920-D18C-BEAB12D1B710}"/>
                  </a:ext>
                </a:extLst>
              </p:cNvPr>
              <p:cNvSpPr txBox="1"/>
              <p:nvPr/>
            </p:nvSpPr>
            <p:spPr>
              <a:xfrm>
                <a:off x="4529380" y="1133043"/>
                <a:ext cx="7136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2800" b="1"/>
                </a:lvl1pPr>
              </a:lstStyle>
              <a:p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SPR</a:t>
                </a:r>
                <a:endParaRPr lang="zh-CN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B96073E-523F-FC56-CF9B-ACD4AD51BD6B}"/>
                  </a:ext>
                </a:extLst>
              </p:cNvPr>
              <p:cNvSpPr txBox="1"/>
              <p:nvPr/>
            </p:nvSpPr>
            <p:spPr>
              <a:xfrm>
                <a:off x="5809540" y="1133043"/>
                <a:ext cx="59824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2800" b="1"/>
                </a:lvl1pPr>
              </a:lstStyle>
              <a:p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ITC</a:t>
                </a:r>
                <a:endParaRPr lang="zh-CN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AE57798-3008-4855-E047-55CD4988AFF3}"/>
                  </a:ext>
                </a:extLst>
              </p:cNvPr>
              <p:cNvSpPr txBox="1"/>
              <p:nvPr/>
            </p:nvSpPr>
            <p:spPr>
              <a:xfrm>
                <a:off x="6954946" y="1133043"/>
                <a:ext cx="72648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2800" b="1"/>
                </a:lvl1pPr>
              </a:lstStyle>
              <a:p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MST</a:t>
                </a:r>
                <a:endParaRPr lang="zh-CN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2A54FCF-CE99-CCC2-F2D0-09F2CCD5C843}"/>
                  </a:ext>
                </a:extLst>
              </p:cNvPr>
              <p:cNvSpPr txBox="1"/>
              <p:nvPr/>
            </p:nvSpPr>
            <p:spPr>
              <a:xfrm>
                <a:off x="8225481" y="1133043"/>
                <a:ext cx="59824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2800" b="1"/>
                </a:lvl1pPr>
              </a:lstStyle>
              <a:p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BLI</a:t>
                </a:r>
                <a:endParaRPr lang="zh-CN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3928F01-FC4E-659B-5B97-8C854E72F61B}"/>
                </a:ext>
              </a:extLst>
            </p:cNvPr>
            <p:cNvSpPr txBox="1"/>
            <p:nvPr/>
          </p:nvSpPr>
          <p:spPr>
            <a:xfrm>
              <a:off x="6954946" y="6311042"/>
              <a:ext cx="226055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800" b="1"/>
              </a:lvl1pPr>
            </a:lstStyle>
            <a:p>
              <a:r>
                <a:rPr lang="zh-CN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数据来源：</a:t>
              </a:r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Thermo Fisher,</a:t>
              </a:r>
              <a:r>
                <a:rPr lang="zh-CN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2019</a:t>
              </a:r>
              <a:endParaRPr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9747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592421" y="1678070"/>
            <a:ext cx="3880492" cy="3993818"/>
            <a:chOff x="824683" y="1430667"/>
            <a:chExt cx="6164936" cy="5503498"/>
          </a:xfrm>
        </p:grpSpPr>
        <p:pic>
          <p:nvPicPr>
            <p:cNvPr id="58" name="Picture 4" descr="Key Components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046019" y="1882134"/>
              <a:ext cx="5943600" cy="40104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9" name="Text Box 5"/>
            <p:cNvSpPr txBox="1">
              <a:spLocks noChangeArrowheads="1"/>
            </p:cNvSpPr>
            <p:nvPr/>
          </p:nvSpPr>
          <p:spPr bwMode="gray">
            <a:xfrm>
              <a:off x="947476" y="1430667"/>
              <a:ext cx="3029089" cy="33068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>
                <a:defRPr/>
              </a:pPr>
              <a:r>
                <a:rPr lang="en-US" altLang="zh-CN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High throughput Docking</a:t>
              </a:r>
            </a:p>
          </p:txBody>
        </p:sp>
        <p:sp>
          <p:nvSpPr>
            <p:cNvPr id="60" name="Text Box 6"/>
            <p:cNvSpPr txBox="1">
              <a:spLocks noChangeArrowheads="1"/>
            </p:cNvSpPr>
            <p:nvPr/>
          </p:nvSpPr>
          <p:spPr bwMode="gray">
            <a:xfrm>
              <a:off x="4202249" y="1666400"/>
              <a:ext cx="2282043" cy="33068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>
                <a:defRPr/>
              </a:pPr>
              <a:r>
                <a:rPr lang="en-US" altLang="zh-CN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Array Construction</a:t>
              </a:r>
            </a:p>
          </p:txBody>
        </p:sp>
        <p:sp>
          <p:nvSpPr>
            <p:cNvPr id="62" name="Text Box 8"/>
            <p:cNvSpPr txBox="1">
              <a:spLocks noChangeArrowheads="1"/>
            </p:cNvSpPr>
            <p:nvPr/>
          </p:nvSpPr>
          <p:spPr bwMode="gray">
            <a:xfrm>
              <a:off x="824683" y="5942122"/>
              <a:ext cx="4895627" cy="99204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>
                <a:defRPr/>
              </a:pPr>
              <a:r>
                <a:rPr lang="en-US" altLang="zh-CN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Biological Content</a:t>
              </a:r>
            </a:p>
            <a:p>
              <a:pPr algn="ctr">
                <a:defRPr/>
              </a:pP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</a:rPr>
                <a:t>(small molecules, protein, peptide, etc.)</a:t>
              </a:r>
              <a:endPara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</a:endParaRPr>
            </a:p>
            <a:p>
              <a:pPr algn="ctr">
                <a:defRPr/>
              </a:pPr>
              <a:endPara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下弧形箭头 62"/>
            <p:cNvSpPr/>
            <p:nvPr/>
          </p:nvSpPr>
          <p:spPr>
            <a:xfrm rot="3117659">
              <a:off x="1319174" y="3603079"/>
              <a:ext cx="1246383" cy="712359"/>
            </a:xfrm>
            <a:prstGeom prst="curvedUpArrow">
              <a:avLst>
                <a:gd name="adj1" fmla="val 25000"/>
                <a:gd name="adj2" fmla="val 51238"/>
                <a:gd name="adj3" fmla="val 57535"/>
              </a:avLst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下弧形箭头 63"/>
            <p:cNvSpPr/>
            <p:nvPr/>
          </p:nvSpPr>
          <p:spPr>
            <a:xfrm rot="20484577">
              <a:off x="3828743" y="3452122"/>
              <a:ext cx="1587756" cy="540313"/>
            </a:xfrm>
            <a:prstGeom prst="curvedUpArrow">
              <a:avLst>
                <a:gd name="adj1" fmla="val 25000"/>
                <a:gd name="adj2" fmla="val 53748"/>
                <a:gd name="adj3" fmla="val 45486"/>
              </a:avLst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23849"/>
            <a:ext cx="10515600" cy="552451"/>
          </a:xfrm>
        </p:spPr>
        <p:txBody>
          <a:bodyPr>
            <a:normAutofit/>
          </a:bodyPr>
          <a:lstStyle/>
          <a:p>
            <a:pPr algn="ctr"/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高通量相互作用筛选</a:t>
            </a:r>
          </a:p>
        </p:txBody>
      </p:sp>
      <p:pic>
        <p:nvPicPr>
          <p:cNvPr id="23" name="Picture 5" descr="spot0_IN-300 pH 4"/>
          <p:cNvPicPr>
            <a:picLocks noChangeAspect="1" noChangeArrowheads="1"/>
          </p:cNvPicPr>
          <p:nvPr/>
        </p:nvPicPr>
        <p:blipFill>
          <a:blip r:embed="rId3" cstate="print"/>
          <a:srcRect l="3561" t="11688" b="25974"/>
          <a:stretch>
            <a:fillRect/>
          </a:stretch>
        </p:blipFill>
        <p:spPr bwMode="auto">
          <a:xfrm>
            <a:off x="8615261" y="2035984"/>
            <a:ext cx="3499711" cy="1480622"/>
          </a:xfrm>
          <a:prstGeom prst="rect">
            <a:avLst/>
          </a:prstGeom>
          <a:noFill/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680C59FB-CB11-475E-A72A-EAB0E0C6C1CD}"/>
              </a:ext>
            </a:extLst>
          </p:cNvPr>
          <p:cNvGrpSpPr/>
          <p:nvPr/>
        </p:nvGrpSpPr>
        <p:grpSpPr>
          <a:xfrm>
            <a:off x="3816007" y="1820594"/>
            <a:ext cx="6666404" cy="4373547"/>
            <a:chOff x="4806504" y="1723028"/>
            <a:chExt cx="6666404" cy="4373547"/>
          </a:xfrm>
        </p:grpSpPr>
        <p:pic>
          <p:nvPicPr>
            <p:cNvPr id="22" name="Picture 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3538" y="3488211"/>
              <a:ext cx="5547031" cy="2569696"/>
            </a:xfrm>
            <a:prstGeom prst="rect">
              <a:avLst/>
            </a:prstGeom>
          </p:spPr>
        </p:pic>
        <p:pic>
          <p:nvPicPr>
            <p:cNvPr id="24" name="图片 23" descr="celebrex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19072255">
              <a:off x="5756766" y="2446925"/>
              <a:ext cx="610735" cy="689651"/>
            </a:xfrm>
            <a:prstGeom prst="rect">
              <a:avLst/>
            </a:prstGeom>
          </p:spPr>
        </p:pic>
        <p:pic>
          <p:nvPicPr>
            <p:cNvPr id="25" name="图片 24" descr="viagra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3257002">
              <a:off x="7702055" y="2052744"/>
              <a:ext cx="915447" cy="517461"/>
            </a:xfrm>
            <a:prstGeom prst="rect">
              <a:avLst/>
            </a:prstGeom>
          </p:spPr>
        </p:pic>
        <p:pic>
          <p:nvPicPr>
            <p:cNvPr id="26" name="图片 25" descr="vioxx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18645" y="2465806"/>
              <a:ext cx="564218" cy="689651"/>
            </a:xfrm>
            <a:prstGeom prst="rect">
              <a:avLst/>
            </a:prstGeom>
          </p:spPr>
        </p:pic>
        <p:pic>
          <p:nvPicPr>
            <p:cNvPr id="27" name="图片 26" descr="lipatol.pn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27057" y="1723028"/>
              <a:ext cx="671961" cy="636601"/>
            </a:xfrm>
            <a:prstGeom prst="rect">
              <a:avLst/>
            </a:prstGeom>
          </p:spPr>
        </p:pic>
        <p:pic>
          <p:nvPicPr>
            <p:cNvPr id="28" name="图片 27" descr="aspirin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91473" y="2820420"/>
              <a:ext cx="364808" cy="583551"/>
            </a:xfrm>
            <a:prstGeom prst="rect">
              <a:avLst/>
            </a:prstGeom>
          </p:spPr>
        </p:pic>
        <p:pic>
          <p:nvPicPr>
            <p:cNvPr id="29" name="图片 28" descr="melatonin.png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14515" y="1801693"/>
              <a:ext cx="451836" cy="636601"/>
            </a:xfrm>
            <a:prstGeom prst="rect">
              <a:avLst/>
            </a:prstGeom>
          </p:spPr>
        </p:pic>
        <p:pic>
          <p:nvPicPr>
            <p:cNvPr id="30" name="图片 29" descr="ibuprofen.png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60784" y="2155770"/>
              <a:ext cx="604087" cy="493812"/>
            </a:xfrm>
            <a:prstGeom prst="rect">
              <a:avLst/>
            </a:prstGeom>
          </p:spPr>
        </p:pic>
        <p:sp>
          <p:nvSpPr>
            <p:cNvPr id="31" name="TextBox 15"/>
            <p:cNvSpPr txBox="1"/>
            <p:nvPr/>
          </p:nvSpPr>
          <p:spPr>
            <a:xfrm rot="21267868">
              <a:off x="7600252" y="5758020"/>
              <a:ext cx="3872656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Biological Content</a:t>
              </a:r>
            </a:p>
          </p:txBody>
        </p:sp>
        <p:cxnSp>
          <p:nvCxnSpPr>
            <p:cNvPr id="32" name="直接箭头连接符 31"/>
            <p:cNvCxnSpPr/>
            <p:nvPr/>
          </p:nvCxnSpPr>
          <p:spPr>
            <a:xfrm>
              <a:off x="6266071" y="3386407"/>
              <a:ext cx="2483256" cy="1544"/>
            </a:xfrm>
            <a:prstGeom prst="straightConnector1">
              <a:avLst/>
            </a:prstGeom>
            <a:ln w="57150">
              <a:prstDash val="sysDot"/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33" name="TextBox 15"/>
            <p:cNvSpPr txBox="1"/>
            <p:nvPr/>
          </p:nvSpPr>
          <p:spPr>
            <a:xfrm>
              <a:off x="5204022" y="3031714"/>
              <a:ext cx="2608290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等线" panose="02010600030101010101" pitchFamily="2" charset="-122"/>
                </a:rPr>
                <a:t>Target Proteins</a:t>
              </a:r>
              <a:endParaRPr lang="zh-CN" alt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4806504" y="4539233"/>
              <a:ext cx="2876000" cy="1388397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4914900" y="4317753"/>
              <a:ext cx="1162050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15"/>
          <p:cNvSpPr txBox="1"/>
          <p:nvPr/>
        </p:nvSpPr>
        <p:spPr>
          <a:xfrm>
            <a:off x="8546083" y="1694125"/>
            <a:ext cx="3629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结果：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N×N interactions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at once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7148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152650" y="685699"/>
            <a:ext cx="7886700" cy="414338"/>
          </a:xfrm>
        </p:spPr>
        <p:txBody>
          <a:bodyPr>
            <a:noAutofit/>
          </a:bodyPr>
          <a:lstStyle/>
          <a:p>
            <a:pPr algn="ctr"/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案例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4: 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亲和力筛选</a:t>
            </a:r>
          </a:p>
        </p:txBody>
      </p:sp>
      <p:sp>
        <p:nvSpPr>
          <p:cNvPr id="7" name="Rectangle 3"/>
          <p:cNvSpPr txBox="1"/>
          <p:nvPr/>
        </p:nvSpPr>
        <p:spPr>
          <a:xfrm>
            <a:off x="1059113" y="1671040"/>
            <a:ext cx="6095220" cy="755033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lstStyle/>
          <a:p>
            <a:pPr marL="200025" indent="-200025" eaLnBrk="0" hangingPunct="0">
              <a:lnSpc>
                <a:spcPct val="120000"/>
              </a:lnSpc>
              <a:spcBef>
                <a:spcPts val="450"/>
              </a:spcBef>
              <a:buClr>
                <a:schemeClr val="accent1"/>
              </a:buClr>
              <a:buSzPct val="80000"/>
            </a:pPr>
            <a:r>
              <a:rPr lang="en-US" altLang="zh-CN" sz="2000" b="1" u="sng" dirty="0">
                <a:sym typeface="Tahoma" pitchFamily="34" charset="0"/>
              </a:rPr>
              <a:t>916</a:t>
            </a:r>
            <a:r>
              <a:rPr lang="zh-CN" altLang="en-US" sz="2000" b="1" u="sng" dirty="0">
                <a:sym typeface="Tahoma" pitchFamily="34" charset="0"/>
              </a:rPr>
              <a:t>种药物小分子与</a:t>
            </a:r>
            <a:r>
              <a:rPr lang="en-US" altLang="zh-CN" sz="2000" b="1" u="sng" dirty="0">
                <a:sym typeface="Tahoma" pitchFamily="34" charset="0"/>
              </a:rPr>
              <a:t>11</a:t>
            </a:r>
            <a:r>
              <a:rPr lang="zh-CN" altLang="en-US" sz="2000" b="1" u="sng" dirty="0">
                <a:sym typeface="Tahoma" pitchFamily="34" charset="0"/>
              </a:rPr>
              <a:t>个药物靶标蛋白的相互作用</a:t>
            </a:r>
            <a:endParaRPr lang="en-US" altLang="zh-CN" sz="2000" b="1" u="sng" dirty="0">
              <a:sym typeface="Tahoma" pitchFamily="34" charset="0"/>
            </a:endParaRPr>
          </a:p>
          <a:p>
            <a:pPr marL="200025" indent="-200025" eaLnBrk="0" hangingPunct="0">
              <a:lnSpc>
                <a:spcPct val="120000"/>
              </a:lnSpc>
              <a:spcBef>
                <a:spcPts val="450"/>
              </a:spcBef>
              <a:buClr>
                <a:schemeClr val="accent1"/>
              </a:buClr>
              <a:buSzPct val="80000"/>
            </a:pPr>
            <a:r>
              <a:rPr lang="zh-CN" altLang="en-US" b="1" dirty="0">
                <a:sym typeface="Tahoma" pitchFamily="34" charset="0"/>
              </a:rPr>
              <a:t>样本：</a:t>
            </a:r>
            <a:r>
              <a:rPr lang="en-US" altLang="zh-CN" b="1" dirty="0">
                <a:sym typeface="Tahoma" pitchFamily="34" charset="0"/>
              </a:rPr>
              <a:t>916</a:t>
            </a:r>
            <a:r>
              <a:rPr lang="zh-CN" altLang="en-US" b="1" dirty="0">
                <a:sym typeface="Tahoma" pitchFamily="34" charset="0"/>
              </a:rPr>
              <a:t>药物衍生物（仿制药前体）</a:t>
            </a:r>
            <a:endParaRPr lang="en-US" altLang="zh-CN" b="1" dirty="0">
              <a:sym typeface="Tahoma" pitchFamily="34" charset="0"/>
            </a:endParaRPr>
          </a:p>
          <a:p>
            <a:pPr marL="200025" indent="-200025" eaLnBrk="0" hangingPunct="0">
              <a:lnSpc>
                <a:spcPct val="120000"/>
              </a:lnSpc>
              <a:spcBef>
                <a:spcPts val="450"/>
              </a:spcBef>
              <a:buClr>
                <a:schemeClr val="accent1"/>
              </a:buClr>
              <a:buSzPct val="80000"/>
            </a:pPr>
            <a:r>
              <a:rPr lang="zh-CN" altLang="en-US" b="1" dirty="0">
                <a:sym typeface="Tahoma" pitchFamily="34" charset="0"/>
              </a:rPr>
              <a:t>分子库：</a:t>
            </a:r>
            <a:r>
              <a:rPr lang="en-US" altLang="zh-CN" b="1" dirty="0">
                <a:sym typeface="Tahoma" pitchFamily="34" charset="0"/>
              </a:rPr>
              <a:t>11</a:t>
            </a:r>
            <a:r>
              <a:rPr lang="zh-CN" altLang="en-US" b="1" dirty="0">
                <a:sym typeface="Tahoma" pitchFamily="34" charset="0"/>
              </a:rPr>
              <a:t>蛋白药效相关蛋白</a:t>
            </a:r>
            <a:endParaRPr lang="en-US" altLang="zh-CN" b="1" dirty="0">
              <a:sym typeface="Tahoma" pitchFamily="34" charset="0"/>
            </a:endParaRPr>
          </a:p>
        </p:txBody>
      </p:sp>
      <p:pic>
        <p:nvPicPr>
          <p:cNvPr id="42" name="Picture 15" descr="takeda-logo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66024" y="1838918"/>
            <a:ext cx="1249944" cy="419276"/>
          </a:xfrm>
          <a:noFill/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C70DE2D3-2197-46F5-BB11-BF17E8B7CFA6}"/>
              </a:ext>
            </a:extLst>
          </p:cNvPr>
          <p:cNvGrpSpPr/>
          <p:nvPr/>
        </p:nvGrpSpPr>
        <p:grpSpPr>
          <a:xfrm>
            <a:off x="1060974" y="2958060"/>
            <a:ext cx="10424184" cy="3121008"/>
            <a:chOff x="543851" y="2762165"/>
            <a:chExt cx="8410427" cy="2518087"/>
          </a:xfrm>
        </p:grpSpPr>
        <p:grpSp>
          <p:nvGrpSpPr>
            <p:cNvPr id="65" name="组合 64"/>
            <p:cNvGrpSpPr/>
            <p:nvPr/>
          </p:nvGrpSpPr>
          <p:grpSpPr>
            <a:xfrm>
              <a:off x="543851" y="2762165"/>
              <a:ext cx="8410427" cy="2518087"/>
              <a:chOff x="725134" y="2288142"/>
              <a:chExt cx="11213902" cy="3357448"/>
            </a:xfrm>
          </p:grpSpPr>
          <p:grpSp>
            <p:nvGrpSpPr>
              <p:cNvPr id="41" name="组合 40"/>
              <p:cNvGrpSpPr/>
              <p:nvPr/>
            </p:nvGrpSpPr>
            <p:grpSpPr>
              <a:xfrm>
                <a:off x="725134" y="2622311"/>
                <a:ext cx="2880364" cy="3023279"/>
                <a:chOff x="725134" y="2622311"/>
                <a:chExt cx="2880364" cy="3023279"/>
              </a:xfrm>
            </p:grpSpPr>
            <p:pic>
              <p:nvPicPr>
                <p:cNvPr id="9" name="Picture 3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25134" y="2622311"/>
                  <a:ext cx="2880364" cy="2506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2" name="矩形 11"/>
                <p:cNvSpPr/>
                <p:nvPr/>
              </p:nvSpPr>
              <p:spPr>
                <a:xfrm>
                  <a:off x="1099797" y="5245481"/>
                  <a:ext cx="2092880" cy="40010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13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芯片表面动态扫描</a:t>
                  </a:r>
                </a:p>
              </p:txBody>
            </p:sp>
          </p:grpSp>
          <p:grpSp>
            <p:nvGrpSpPr>
              <p:cNvPr id="40" name="组合 39"/>
              <p:cNvGrpSpPr/>
              <p:nvPr/>
            </p:nvGrpSpPr>
            <p:grpSpPr>
              <a:xfrm>
                <a:off x="4254981" y="2575358"/>
                <a:ext cx="3206843" cy="3070232"/>
                <a:chOff x="4105447" y="2575358"/>
                <a:chExt cx="3206843" cy="3070232"/>
              </a:xfrm>
            </p:grpSpPr>
            <p:grpSp>
              <p:nvGrpSpPr>
                <p:cNvPr id="10" name="组合 2"/>
                <p:cNvGrpSpPr>
                  <a:grpSpLocks noChangeAspect="1"/>
                </p:cNvGrpSpPr>
                <p:nvPr/>
              </p:nvGrpSpPr>
              <p:grpSpPr bwMode="auto">
                <a:xfrm>
                  <a:off x="4105447" y="2575358"/>
                  <a:ext cx="3206843" cy="2591033"/>
                  <a:chOff x="-1" y="-1"/>
                  <a:chExt cx="4797619" cy="3205567"/>
                </a:xfrm>
              </p:grpSpPr>
              <p:pic>
                <p:nvPicPr>
                  <p:cNvPr id="15" name="Picture 2" descr="D:\printing\1.jpg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1" y="-1"/>
                    <a:ext cx="1614656" cy="107884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6" name="Picture 4" descr="D:\printing\2.jpg"/>
                  <p:cNvPicPr>
                    <a:picLocks noChangeAspect="1" noChangeArrowheads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591480" y="-1"/>
                    <a:ext cx="1614656" cy="107884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7" name="Picture 5" descr="D:\printing\3.jpg"/>
                  <p:cNvPicPr>
                    <a:picLocks noChangeAspect="1" noChangeArrowheads="1"/>
                  </p:cNvPicPr>
                  <p:nvPr/>
                </p:nvPicPr>
                <p:blipFill>
                  <a:blip r:embed="rId7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182962" y="-1"/>
                    <a:ext cx="1614656" cy="107884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8" name="Picture 6" descr="D:\printing\4.jpg"/>
                  <p:cNvPicPr>
                    <a:picLocks noChangeAspect="1" noChangeArrowheads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1" y="1078844"/>
                    <a:ext cx="1591481" cy="106336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9" name="Picture 7" descr="D:\printing\5.jpg"/>
                  <p:cNvPicPr>
                    <a:picLocks noChangeAspect="1" noChangeArrowheads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591480" y="1078844"/>
                    <a:ext cx="1591481" cy="106336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20" name="Picture 8" descr="D:\printing\6.jpg"/>
                  <p:cNvPicPr>
                    <a:picLocks noChangeAspect="1" noChangeArrowheads="1"/>
                  </p:cNvPicPr>
                  <p:nvPr/>
                </p:nvPicPr>
                <p:blipFill>
                  <a:blip r:embed="rId1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206137" y="1078844"/>
                    <a:ext cx="1591481" cy="106336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21" name="Picture 9" descr="D:\printing\7.jpg"/>
                  <p:cNvPicPr>
                    <a:picLocks noChangeAspect="1" noChangeArrowheads="1"/>
                  </p:cNvPicPr>
                  <p:nvPr/>
                </p:nvPicPr>
                <p:blipFill>
                  <a:blip r:embed="rId1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1" y="2142205"/>
                    <a:ext cx="1614656" cy="106336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22" name="Picture 10" descr="D:\printing\8.jpg"/>
                  <p:cNvPicPr>
                    <a:picLocks noChangeAspect="1" noChangeArrowheads="1"/>
                  </p:cNvPicPr>
                  <p:nvPr/>
                </p:nvPicPr>
                <p:blipFill>
                  <a:blip r:embed="rId1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614655" y="2142205"/>
                    <a:ext cx="1591481" cy="106336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23" name="Picture 11" descr="D:\printing\9.jpg"/>
                  <p:cNvPicPr>
                    <a:picLocks noChangeAspect="1" noChangeArrowheads="1"/>
                  </p:cNvPicPr>
                  <p:nvPr/>
                </p:nvPicPr>
                <p:blipFill>
                  <a:blip r:embed="rId1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215546" y="2142205"/>
                    <a:ext cx="1582072" cy="106336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sp>
              <p:nvSpPr>
                <p:cNvPr id="13" name="矩形 12"/>
                <p:cNvSpPr/>
                <p:nvPr/>
              </p:nvSpPr>
              <p:spPr>
                <a:xfrm>
                  <a:off x="4751062" y="5245481"/>
                  <a:ext cx="2017491" cy="40010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13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亲和力数据曲线</a:t>
                  </a:r>
                </a:p>
              </p:txBody>
            </p:sp>
          </p:grpSp>
          <p:grpSp>
            <p:nvGrpSpPr>
              <p:cNvPr id="64" name="组合 63"/>
              <p:cNvGrpSpPr/>
              <p:nvPr/>
            </p:nvGrpSpPr>
            <p:grpSpPr>
              <a:xfrm>
                <a:off x="7737654" y="2288142"/>
                <a:ext cx="4201382" cy="3357448"/>
                <a:chOff x="7737654" y="2288142"/>
                <a:chExt cx="4201382" cy="3357448"/>
              </a:xfrm>
            </p:grpSpPr>
            <p:sp>
              <p:nvSpPr>
                <p:cNvPr id="14" name="矩形 13"/>
                <p:cNvSpPr/>
                <p:nvPr/>
              </p:nvSpPr>
              <p:spPr>
                <a:xfrm>
                  <a:off x="9057161" y="5245481"/>
                  <a:ext cx="2092880" cy="40010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13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热图（互作强度）</a:t>
                  </a:r>
                </a:p>
              </p:txBody>
            </p:sp>
            <p:grpSp>
              <p:nvGrpSpPr>
                <p:cNvPr id="61" name="组合 60"/>
                <p:cNvGrpSpPr/>
                <p:nvPr/>
              </p:nvGrpSpPr>
              <p:grpSpPr>
                <a:xfrm>
                  <a:off x="7737654" y="2288142"/>
                  <a:ext cx="4201382" cy="2960567"/>
                  <a:chOff x="7737654" y="2288142"/>
                  <a:chExt cx="4201382" cy="2960567"/>
                </a:xfrm>
              </p:grpSpPr>
              <p:pic>
                <p:nvPicPr>
                  <p:cNvPr id="44" name="Picture 3" descr="Merge-Hits"/>
                  <p:cNvPicPr>
                    <a:picLocks noChangeAspect="1" noChangeArrowheads="1"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366304" y="2623770"/>
                    <a:ext cx="3452082" cy="251824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grpSp>
                <p:nvGrpSpPr>
                  <p:cNvPr id="45" name="Group 4"/>
                  <p:cNvGrpSpPr>
                    <a:grpSpLocks/>
                  </p:cNvGrpSpPr>
                  <p:nvPr/>
                </p:nvGrpSpPr>
                <p:grpSpPr bwMode="auto">
                  <a:xfrm>
                    <a:off x="7737654" y="2512484"/>
                    <a:ext cx="733559" cy="2736225"/>
                    <a:chOff x="-435" y="0"/>
                    <a:chExt cx="2241" cy="7745"/>
                  </a:xfrm>
                </p:grpSpPr>
                <p:sp>
                  <p:nvSpPr>
                    <p:cNvPr id="58" name="Text Box 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-299" y="0"/>
                      <a:ext cx="1875" cy="8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°"/>
                        <a:defRPr sz="2400">
                          <a:solidFill>
                            <a:srgbClr val="1A93C8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1pPr>
                      <a:lvl2pPr marL="742950" indent="-28575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1BBEE"/>
                        </a:buClr>
                        <a:buFont typeface="幼圆" panose="02010509060101010101" pitchFamily="49" charset="-122"/>
                        <a:buChar char=" "/>
                        <a:defRPr sz="1600">
                          <a:solidFill>
                            <a:schemeClr val="tx1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25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SM  1</a:t>
                      </a:r>
                    </a:p>
                  </p:txBody>
                </p:sp>
                <p:sp>
                  <p:nvSpPr>
                    <p:cNvPr id="59" name="Text Box 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-435" y="6917"/>
                      <a:ext cx="2241" cy="8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°"/>
                        <a:defRPr sz="2400">
                          <a:solidFill>
                            <a:srgbClr val="1A93C8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1pPr>
                      <a:lvl2pPr marL="742950" indent="-28575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1BBEE"/>
                        </a:buClr>
                        <a:buFont typeface="幼圆" panose="02010509060101010101" pitchFamily="49" charset="-122"/>
                        <a:buChar char=" "/>
                        <a:defRPr sz="1600">
                          <a:solidFill>
                            <a:schemeClr val="tx1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25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SM 916</a:t>
                      </a:r>
                    </a:p>
                  </p:txBody>
                </p:sp>
                <p:sp>
                  <p:nvSpPr>
                    <p:cNvPr id="60" name="AutoShape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66" y="906"/>
                      <a:ext cx="119" cy="6011"/>
                    </a:xfrm>
                    <a:prstGeom prst="downArrow">
                      <a:avLst>
                        <a:gd name="adj1" fmla="val 49583"/>
                        <a:gd name="adj2" fmla="val 462097"/>
                      </a:avLst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anchor="ctr"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°"/>
                        <a:defRPr sz="2400">
                          <a:solidFill>
                            <a:srgbClr val="1A93C8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1pPr>
                      <a:lvl2pPr marL="742950" indent="-28575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1BBEE"/>
                        </a:buClr>
                        <a:buFont typeface="幼圆" panose="02010509060101010101" pitchFamily="49" charset="-122"/>
                        <a:buChar char=" "/>
                        <a:defRPr sz="1600">
                          <a:solidFill>
                            <a:schemeClr val="tx1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46" name="Group 8"/>
                  <p:cNvGrpSpPr>
                    <a:grpSpLocks/>
                  </p:cNvGrpSpPr>
                  <p:nvPr/>
                </p:nvGrpSpPr>
                <p:grpSpPr bwMode="auto">
                  <a:xfrm>
                    <a:off x="8306559" y="2288142"/>
                    <a:ext cx="3632477" cy="307715"/>
                    <a:chOff x="114" y="0"/>
                    <a:chExt cx="12081" cy="871"/>
                  </a:xfrm>
                </p:grpSpPr>
                <p:sp>
                  <p:nvSpPr>
                    <p:cNvPr id="47" name="Text Box 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4" y="0"/>
                      <a:ext cx="1444" cy="87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°"/>
                        <a:defRPr sz="2400">
                          <a:solidFill>
                            <a:srgbClr val="1A93C8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1pPr>
                      <a:lvl2pPr marL="742950" indent="-28575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1BBEE"/>
                        </a:buClr>
                        <a:buFont typeface="幼圆" panose="02010509060101010101" pitchFamily="49" charset="-122"/>
                        <a:buChar char=" "/>
                        <a:defRPr sz="1600">
                          <a:solidFill>
                            <a:schemeClr val="tx1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P1</a:t>
                      </a:r>
                    </a:p>
                  </p:txBody>
                </p:sp>
                <p:sp>
                  <p:nvSpPr>
                    <p:cNvPr id="48" name="Text Box 1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56" y="0"/>
                      <a:ext cx="1444" cy="87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°"/>
                        <a:defRPr sz="2400">
                          <a:solidFill>
                            <a:srgbClr val="1A93C8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1pPr>
                      <a:lvl2pPr marL="742950" indent="-28575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1BBEE"/>
                        </a:buClr>
                        <a:buFont typeface="幼圆" panose="02010509060101010101" pitchFamily="49" charset="-122"/>
                        <a:buChar char=" "/>
                        <a:defRPr sz="1600">
                          <a:solidFill>
                            <a:schemeClr val="tx1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P2</a:t>
                      </a:r>
                    </a:p>
                  </p:txBody>
                </p:sp>
                <p:sp>
                  <p:nvSpPr>
                    <p:cNvPr id="49" name="Text Box 1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198" y="0"/>
                      <a:ext cx="1444" cy="87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°"/>
                        <a:defRPr sz="2400">
                          <a:solidFill>
                            <a:srgbClr val="1A93C8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1pPr>
                      <a:lvl2pPr marL="742950" indent="-28575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1BBEE"/>
                        </a:buClr>
                        <a:buFont typeface="幼圆" panose="02010509060101010101" pitchFamily="49" charset="-122"/>
                        <a:buChar char=" "/>
                        <a:defRPr sz="1600">
                          <a:solidFill>
                            <a:schemeClr val="tx1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P3</a:t>
                      </a:r>
                    </a:p>
                  </p:txBody>
                </p:sp>
                <p:sp>
                  <p:nvSpPr>
                    <p:cNvPr id="50" name="Text Box 1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240" y="0"/>
                      <a:ext cx="1444" cy="87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°"/>
                        <a:defRPr sz="2400">
                          <a:solidFill>
                            <a:srgbClr val="1A93C8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1pPr>
                      <a:lvl2pPr marL="742950" indent="-28575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1BBEE"/>
                        </a:buClr>
                        <a:buFont typeface="幼圆" panose="02010509060101010101" pitchFamily="49" charset="-122"/>
                        <a:buChar char=" "/>
                        <a:defRPr sz="1600">
                          <a:solidFill>
                            <a:schemeClr val="tx1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P4</a:t>
                      </a:r>
                    </a:p>
                  </p:txBody>
                </p:sp>
                <p:sp>
                  <p:nvSpPr>
                    <p:cNvPr id="51" name="Text Box 1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282" y="0"/>
                      <a:ext cx="1444" cy="87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°"/>
                        <a:defRPr sz="2400">
                          <a:solidFill>
                            <a:srgbClr val="1A93C8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1pPr>
                      <a:lvl2pPr marL="742950" indent="-28575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1BBEE"/>
                        </a:buClr>
                        <a:buFont typeface="幼圆" panose="02010509060101010101" pitchFamily="49" charset="-122"/>
                        <a:buChar char=" "/>
                        <a:defRPr sz="1600">
                          <a:solidFill>
                            <a:schemeClr val="tx1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P5</a:t>
                      </a:r>
                    </a:p>
                  </p:txBody>
                </p:sp>
                <p:sp>
                  <p:nvSpPr>
                    <p:cNvPr id="52" name="Text Box 1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324" y="0"/>
                      <a:ext cx="1444" cy="87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°"/>
                        <a:defRPr sz="2400">
                          <a:solidFill>
                            <a:srgbClr val="1A93C8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1pPr>
                      <a:lvl2pPr marL="742950" indent="-28575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1BBEE"/>
                        </a:buClr>
                        <a:buFont typeface="幼圆" panose="02010509060101010101" pitchFamily="49" charset="-122"/>
                        <a:buChar char=" "/>
                        <a:defRPr sz="1600">
                          <a:solidFill>
                            <a:schemeClr val="tx1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P6</a:t>
                      </a:r>
                    </a:p>
                  </p:txBody>
                </p:sp>
                <p:sp>
                  <p:nvSpPr>
                    <p:cNvPr id="53" name="Text Box 1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366" y="0"/>
                      <a:ext cx="1444" cy="87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°"/>
                        <a:defRPr sz="2400">
                          <a:solidFill>
                            <a:srgbClr val="1A93C8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1pPr>
                      <a:lvl2pPr marL="742950" indent="-28575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1BBEE"/>
                        </a:buClr>
                        <a:buFont typeface="幼圆" panose="02010509060101010101" pitchFamily="49" charset="-122"/>
                        <a:buChar char=" "/>
                        <a:defRPr sz="1600">
                          <a:solidFill>
                            <a:schemeClr val="tx1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P7</a:t>
                      </a:r>
                    </a:p>
                  </p:txBody>
                </p:sp>
                <p:sp>
                  <p:nvSpPr>
                    <p:cNvPr id="54" name="Text Box 1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408" y="0"/>
                      <a:ext cx="1444" cy="87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°"/>
                        <a:defRPr sz="2400">
                          <a:solidFill>
                            <a:srgbClr val="1A93C8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1pPr>
                      <a:lvl2pPr marL="742950" indent="-28575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1BBEE"/>
                        </a:buClr>
                        <a:buFont typeface="幼圆" panose="02010509060101010101" pitchFamily="49" charset="-122"/>
                        <a:buChar char=" "/>
                        <a:defRPr sz="1600">
                          <a:solidFill>
                            <a:schemeClr val="tx1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P8</a:t>
                      </a:r>
                    </a:p>
                  </p:txBody>
                </p:sp>
                <p:sp>
                  <p:nvSpPr>
                    <p:cNvPr id="55" name="Text Box 1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50" y="0"/>
                      <a:ext cx="1444" cy="87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°"/>
                        <a:defRPr sz="2400">
                          <a:solidFill>
                            <a:srgbClr val="1A93C8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1pPr>
                      <a:lvl2pPr marL="742950" indent="-28575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1BBEE"/>
                        </a:buClr>
                        <a:buFont typeface="幼圆" panose="02010509060101010101" pitchFamily="49" charset="-122"/>
                        <a:buChar char=" "/>
                        <a:defRPr sz="1600">
                          <a:solidFill>
                            <a:schemeClr val="tx1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P9</a:t>
                      </a:r>
                    </a:p>
                  </p:txBody>
                </p:sp>
                <p:sp>
                  <p:nvSpPr>
                    <p:cNvPr id="56" name="Text Box 1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443" y="0"/>
                      <a:ext cx="1729" cy="87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°"/>
                        <a:defRPr sz="2400">
                          <a:solidFill>
                            <a:srgbClr val="1A93C8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1pPr>
                      <a:lvl2pPr marL="742950" indent="-28575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1BBEE"/>
                        </a:buClr>
                        <a:buFont typeface="幼圆" panose="02010509060101010101" pitchFamily="49" charset="-122"/>
                        <a:buChar char=" "/>
                        <a:defRPr sz="1600">
                          <a:solidFill>
                            <a:schemeClr val="tx1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P10</a:t>
                      </a:r>
                    </a:p>
                  </p:txBody>
                </p:sp>
                <p:sp>
                  <p:nvSpPr>
                    <p:cNvPr id="57" name="Text Box 1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466" y="0"/>
                      <a:ext cx="1729" cy="87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°"/>
                        <a:defRPr sz="2400">
                          <a:solidFill>
                            <a:srgbClr val="1A93C8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1pPr>
                      <a:lvl2pPr marL="742950" indent="-28575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1BBEE"/>
                        </a:buClr>
                        <a:buFont typeface="幼圆" panose="02010509060101010101" pitchFamily="49" charset="-122"/>
                        <a:buChar char=" "/>
                        <a:defRPr sz="1600">
                          <a:solidFill>
                            <a:schemeClr val="tx1"/>
                          </a:solidFill>
                          <a:latin typeface="幼圆" panose="02010509060101010101" pitchFamily="49" charset="-122"/>
                          <a:ea typeface="幼圆" panose="02010509060101010101" pitchFamily="49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49" charset="-122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P11</a:t>
                      </a:r>
                    </a:p>
                  </p:txBody>
                </p:sp>
              </p:grpSp>
            </p:grpSp>
          </p:grpSp>
        </p:grp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074B913-8CBB-41AE-A12E-D8DC6E59254C}"/>
                </a:ext>
              </a:extLst>
            </p:cNvPr>
            <p:cNvSpPr/>
            <p:nvPr/>
          </p:nvSpPr>
          <p:spPr>
            <a:xfrm>
              <a:off x="6676498" y="3390901"/>
              <a:ext cx="360062" cy="303395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272E1127-D805-404C-9901-79CAB1BAF948}"/>
              </a:ext>
            </a:extLst>
          </p:cNvPr>
          <p:cNvSpPr/>
          <p:nvPr/>
        </p:nvSpPr>
        <p:spPr>
          <a:xfrm>
            <a:off x="8786983" y="2391286"/>
            <a:ext cx="2698175" cy="3341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00025" indent="-200025" eaLnBrk="0" hangingPunct="0">
              <a:lnSpc>
                <a:spcPct val="120000"/>
              </a:lnSpc>
              <a:spcBef>
                <a:spcPts val="450"/>
              </a:spcBef>
              <a:buClr>
                <a:schemeClr val="accent1"/>
              </a:buClr>
              <a:buSzPct val="80000"/>
            </a:pPr>
            <a:r>
              <a:rPr lang="zh-CN" altLang="en-US" sz="1400" b="1" dirty="0"/>
              <a:t>合作者：日本武田制药株式会社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336687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B0D791A-8144-4C20-97CB-2139E20DF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457758"/>
              </p:ext>
            </p:extLst>
          </p:nvPr>
        </p:nvGraphicFramePr>
        <p:xfrm>
          <a:off x="495289" y="1149069"/>
          <a:ext cx="10974843" cy="4766991"/>
        </p:xfrm>
        <a:graphic>
          <a:graphicData uri="http://schemas.openxmlformats.org/drawingml/2006/table">
            <a:tbl>
              <a:tblPr/>
              <a:tblGrid>
                <a:gridCol w="967132">
                  <a:extLst>
                    <a:ext uri="{9D8B030D-6E8A-4147-A177-3AD203B41FA5}">
                      <a16:colId xmlns:a16="http://schemas.microsoft.com/office/drawing/2014/main" val="1231839498"/>
                    </a:ext>
                  </a:extLst>
                </a:gridCol>
                <a:gridCol w="1429673">
                  <a:extLst>
                    <a:ext uri="{9D8B030D-6E8A-4147-A177-3AD203B41FA5}">
                      <a16:colId xmlns:a16="http://schemas.microsoft.com/office/drawing/2014/main" val="1197833385"/>
                    </a:ext>
                  </a:extLst>
                </a:gridCol>
                <a:gridCol w="1429673">
                  <a:extLst>
                    <a:ext uri="{9D8B030D-6E8A-4147-A177-3AD203B41FA5}">
                      <a16:colId xmlns:a16="http://schemas.microsoft.com/office/drawing/2014/main" val="1430066364"/>
                    </a:ext>
                  </a:extLst>
                </a:gridCol>
                <a:gridCol w="1429673">
                  <a:extLst>
                    <a:ext uri="{9D8B030D-6E8A-4147-A177-3AD203B41FA5}">
                      <a16:colId xmlns:a16="http://schemas.microsoft.com/office/drawing/2014/main" val="825472346"/>
                    </a:ext>
                  </a:extLst>
                </a:gridCol>
                <a:gridCol w="1429673">
                  <a:extLst>
                    <a:ext uri="{9D8B030D-6E8A-4147-A177-3AD203B41FA5}">
                      <a16:colId xmlns:a16="http://schemas.microsoft.com/office/drawing/2014/main" val="2040947492"/>
                    </a:ext>
                  </a:extLst>
                </a:gridCol>
                <a:gridCol w="1429673">
                  <a:extLst>
                    <a:ext uri="{9D8B030D-6E8A-4147-A177-3AD203B41FA5}">
                      <a16:colId xmlns:a16="http://schemas.microsoft.com/office/drawing/2014/main" val="49020387"/>
                    </a:ext>
                  </a:extLst>
                </a:gridCol>
                <a:gridCol w="1429673">
                  <a:extLst>
                    <a:ext uri="{9D8B030D-6E8A-4147-A177-3AD203B41FA5}">
                      <a16:colId xmlns:a16="http://schemas.microsoft.com/office/drawing/2014/main" val="926247186"/>
                    </a:ext>
                  </a:extLst>
                </a:gridCol>
                <a:gridCol w="1429673">
                  <a:extLst>
                    <a:ext uri="{9D8B030D-6E8A-4147-A177-3AD203B41FA5}">
                      <a16:colId xmlns:a16="http://schemas.microsoft.com/office/drawing/2014/main" val="2363649111"/>
                    </a:ext>
                  </a:extLst>
                </a:gridCol>
              </a:tblGrid>
              <a:tr h="5676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No.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固定相</a:t>
                      </a:r>
                      <a:br>
                        <a:rPr lang="zh-CN" alt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（打印于芯片表面）</a:t>
                      </a:r>
                      <a:endParaRPr lang="zh-CN" alt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流动相</a:t>
                      </a:r>
                      <a:br>
                        <a:rPr lang="zh-CN" alt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（流经芯片表面）</a:t>
                      </a:r>
                      <a:endParaRPr lang="zh-CN" altLang="en-US" sz="15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Avg ka (1/Ms)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Avg kd (1/s)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Avg KD (M)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Int.Intensity Level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ABS (tr_KD)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84070"/>
                  </a:ext>
                </a:extLst>
              </a:tr>
              <a:tr h="299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1-1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Acarbose</a:t>
                      </a:r>
                    </a:p>
                  </a:txBody>
                  <a:tcPr marL="10513" marR="10513" marT="10513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l-GR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α-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Glucosidase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1.43E+02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1.04E-05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7.22E-08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23.723 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3084155"/>
                  </a:ext>
                </a:extLst>
              </a:tr>
              <a:tr h="299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1-2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Apigenin</a:t>
                      </a:r>
                    </a:p>
                  </a:txBody>
                  <a:tcPr marL="10513" marR="10513" marT="10513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l-G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α-</a:t>
                      </a: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Glucosidase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1.47E+05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3.80E-03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2.58E-08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25.208 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470414"/>
                  </a:ext>
                </a:extLst>
              </a:tr>
              <a:tr h="299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1-3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Clitorin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513" marR="10513" marT="10513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l-G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α-</a:t>
                      </a: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Glucosidase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1.71E+03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1.00E-01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5.85E-05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middle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14.060 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107133"/>
                  </a:ext>
                </a:extLst>
              </a:tr>
              <a:tr h="299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1-4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Genkwanin</a:t>
                      </a:r>
                    </a:p>
                  </a:txBody>
                  <a:tcPr marL="10513" marR="10513" marT="10513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l-G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α-</a:t>
                      </a: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Glucosidase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1.03E+01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6.58E-02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6.42E-03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7.283 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108955"/>
                  </a:ext>
                </a:extLst>
              </a:tr>
              <a:tr h="299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1-5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Hyperoside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513" marR="10513" marT="10513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l-GR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α-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Glucosidase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9.83E+00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1.22E-05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1.24E-06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19.625 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010262"/>
                  </a:ext>
                </a:extLst>
              </a:tr>
              <a:tr h="299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1-6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Isorhamnetin</a:t>
                      </a:r>
                    </a:p>
                  </a:txBody>
                  <a:tcPr marL="10513" marR="10513" marT="10513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l-GR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α-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Glucosidase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2.16E+02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3.88E-05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1.80E-07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22.405 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555150"/>
                  </a:ext>
                </a:extLst>
              </a:tr>
              <a:tr h="299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1-7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Kaempferide</a:t>
                      </a:r>
                    </a:p>
                  </a:txBody>
                  <a:tcPr marL="10513" marR="10513" marT="10513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l-GR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α-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Glucosidase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2.54E+01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3.01E-01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1.18E-02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6.400 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447430"/>
                  </a:ext>
                </a:extLst>
              </a:tr>
              <a:tr h="299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1-8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Kaempferol</a:t>
                      </a:r>
                    </a:p>
                  </a:txBody>
                  <a:tcPr marL="10513" marR="10513" marT="10513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l-GR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α-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Glucosidase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1.45E+02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4.00E-03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2.76E-05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middle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15.144 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860312"/>
                  </a:ext>
                </a:extLst>
              </a:tr>
              <a:tr h="299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1-9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Luteolin</a:t>
                      </a:r>
                    </a:p>
                  </a:txBody>
                  <a:tcPr marL="10513" marR="10513" marT="10513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l-GR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α-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Glucosidase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9.77E+02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1.34E-03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1.37E-06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19.474 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331747"/>
                  </a:ext>
                </a:extLst>
              </a:tr>
              <a:tr h="3045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1-10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Isoquercitrin</a:t>
                      </a:r>
                    </a:p>
                  </a:txBody>
                  <a:tcPr marL="10513" marR="10513" marT="10513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l-GR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α-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Glucosidase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5.30E+00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2.66E-02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5.03E-03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7.636 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983440"/>
                  </a:ext>
                </a:extLst>
              </a:tr>
              <a:tr h="299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1-11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Myricetin</a:t>
                      </a:r>
                    </a:p>
                  </a:txBody>
                  <a:tcPr marL="10513" marR="10513" marT="10513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l-GR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α-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Glucosidase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3.81E+04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8.19E-03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2.15E-07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22.150 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808929"/>
                  </a:ext>
                </a:extLst>
              </a:tr>
              <a:tr h="299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1-12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Myricetrin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513" marR="10513" marT="10513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l-GR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α-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Glucosidase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9.65E+00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1.22E-01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1.27E-02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6.303 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595607"/>
                  </a:ext>
                </a:extLst>
              </a:tr>
              <a:tr h="299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1-13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S-Naringenin</a:t>
                      </a:r>
                    </a:p>
                  </a:txBody>
                  <a:tcPr marL="10513" marR="10513" marT="10513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l-GR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α-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Glucosidase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5.59E+02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1.34E-03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2.40E-06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18.666 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9009973"/>
                  </a:ext>
                </a:extLst>
              </a:tr>
              <a:tr h="299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Control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DMSO</a:t>
                      </a:r>
                    </a:p>
                  </a:txBody>
                  <a:tcPr marL="10513" marR="10513" marT="10513" marB="0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l-GR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α-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Glucosidase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1.16E+00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6.82E-01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5.86E-01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VW/None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0.770 </a:t>
                      </a:r>
                    </a:p>
                  </a:txBody>
                  <a:tcPr marL="10513" marR="10513" marT="1051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756433"/>
                  </a:ext>
                </a:extLst>
              </a:tr>
            </a:tbl>
          </a:graphicData>
        </a:graphic>
      </p:graphicFrame>
      <p:sp>
        <p:nvSpPr>
          <p:cNvPr id="3" name="标题 1">
            <a:extLst>
              <a:ext uri="{FF2B5EF4-FFF2-40B4-BE49-F238E27FC236}">
                <a16:creationId xmlns:a16="http://schemas.microsoft.com/office/drawing/2014/main" id="{39CB7EC9-25B3-E1C1-1A70-25A2C600761D}"/>
              </a:ext>
            </a:extLst>
          </p:cNvPr>
          <p:cNvSpPr txBox="1">
            <a:spLocks/>
          </p:cNvSpPr>
          <p:nvPr/>
        </p:nvSpPr>
        <p:spPr>
          <a:xfrm>
            <a:off x="838200" y="323849"/>
            <a:ext cx="10515600" cy="552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案例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 对比不同抑制剂与靶蛋白的结合强弱关系</a:t>
            </a:r>
          </a:p>
        </p:txBody>
      </p:sp>
    </p:spTree>
    <p:extLst>
      <p:ext uri="{BB962C8B-B14F-4D97-AF65-F5344CB8AC3E}">
        <p14:creationId xmlns:p14="http://schemas.microsoft.com/office/powerpoint/2010/main" val="814145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F10ABE7B-83F0-1AEF-0789-CC523B0B7C26}"/>
              </a:ext>
            </a:extLst>
          </p:cNvPr>
          <p:cNvGrpSpPr/>
          <p:nvPr/>
        </p:nvGrpSpPr>
        <p:grpSpPr>
          <a:xfrm>
            <a:off x="38501" y="876300"/>
            <a:ext cx="12128650" cy="5435602"/>
            <a:chOff x="0" y="651932"/>
            <a:chExt cx="12128650" cy="543560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1EB2546A-2D26-0D7E-6702-4BA27D7F5E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6483"/>
            <a:stretch/>
          </p:blipFill>
          <p:spPr>
            <a:xfrm>
              <a:off x="0" y="651932"/>
              <a:ext cx="9144000" cy="5435602"/>
            </a:xfrm>
            <a:prstGeom prst="rect">
              <a:avLst/>
            </a:prstGeom>
          </p:spPr>
        </p:pic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6BA8FDBA-BA80-01CB-71F4-DD9D63851B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68831" y="3522132"/>
              <a:ext cx="2986674" cy="2475176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9D9CA8AB-F237-4192-DE03-FA9C9AE63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20984" y="1464733"/>
              <a:ext cx="2907666" cy="1659460"/>
            </a:xfrm>
            <a:prstGeom prst="rect">
              <a:avLst/>
            </a:prstGeom>
          </p:spPr>
        </p:pic>
      </p:grpSp>
      <p:sp>
        <p:nvSpPr>
          <p:cNvPr id="5" name="标题 1">
            <a:extLst>
              <a:ext uri="{FF2B5EF4-FFF2-40B4-BE49-F238E27FC236}">
                <a16:creationId xmlns:a16="http://schemas.microsoft.com/office/drawing/2014/main" id="{4F616900-906A-A450-539E-6A249156CB72}"/>
              </a:ext>
            </a:extLst>
          </p:cNvPr>
          <p:cNvSpPr txBox="1">
            <a:spLocks/>
          </p:cNvSpPr>
          <p:nvPr/>
        </p:nvSpPr>
        <p:spPr>
          <a:xfrm>
            <a:off x="838200" y="323849"/>
            <a:ext cx="10515600" cy="552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案例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 药物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蛋白亲和力测定及筛选</a:t>
            </a:r>
          </a:p>
        </p:txBody>
      </p:sp>
    </p:spTree>
    <p:extLst>
      <p:ext uri="{BB962C8B-B14F-4D97-AF65-F5344CB8AC3E}">
        <p14:creationId xmlns:p14="http://schemas.microsoft.com/office/powerpoint/2010/main" val="1824370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0" y="376026"/>
            <a:ext cx="12191999" cy="55245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研 究 方 向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07CB3A5-4F33-23A2-05AF-E558969789A1}"/>
              </a:ext>
            </a:extLst>
          </p:cNvPr>
          <p:cNvGrpSpPr/>
          <p:nvPr/>
        </p:nvGrpSpPr>
        <p:grpSpPr>
          <a:xfrm>
            <a:off x="2057017" y="968029"/>
            <a:ext cx="8964134" cy="5513945"/>
            <a:chOff x="2141684" y="1086482"/>
            <a:chExt cx="8964134" cy="551394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EBFDBD82-F118-4D0E-A30E-84A03853F248}"/>
                </a:ext>
              </a:extLst>
            </p:cNvPr>
            <p:cNvSpPr txBox="1"/>
            <p:nvPr/>
          </p:nvSpPr>
          <p:spPr>
            <a:xfrm>
              <a:off x="2141684" y="1086482"/>
              <a:ext cx="8964134" cy="5513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sz="2400" b="1" dirty="0"/>
                <a:t>已知药物，分析靶蛋白（                                             ）</a:t>
              </a:r>
              <a:endParaRPr lang="en-US" altLang="zh-CN" sz="2400" b="1" dirty="0"/>
            </a:p>
            <a:p>
              <a:pPr marL="7429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/>
                <a:t>平台</a:t>
              </a:r>
              <a:r>
                <a:rPr lang="en-US" altLang="zh-CN" b="1" dirty="0"/>
                <a:t>1</a:t>
              </a:r>
              <a:r>
                <a:rPr lang="zh-CN" altLang="en-US" b="1" dirty="0"/>
                <a:t>：靶标捕获 </a:t>
              </a:r>
              <a:r>
                <a:rPr lang="en-US" altLang="zh-CN" b="1" dirty="0"/>
                <a:t> </a:t>
              </a:r>
              <a:endParaRPr lang="zh-CN" altLang="en-US" b="1" dirty="0"/>
            </a:p>
            <a:p>
              <a:pPr marL="7429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>
                  <a:solidFill>
                    <a:srgbClr val="C00000"/>
                  </a:solidFill>
                </a:rPr>
                <a:t>平台</a:t>
              </a:r>
              <a:r>
                <a:rPr lang="en-US" altLang="zh-CN" b="1" dirty="0">
                  <a:solidFill>
                    <a:srgbClr val="C00000"/>
                  </a:solidFill>
                </a:rPr>
                <a:t>2</a:t>
              </a:r>
              <a:r>
                <a:rPr lang="zh-CN" altLang="en-US" b="1" dirty="0">
                  <a:solidFill>
                    <a:srgbClr val="C00000"/>
                  </a:solidFill>
                </a:rPr>
                <a:t>：互作分析 </a:t>
              </a:r>
              <a:r>
                <a:rPr lang="en-US" altLang="zh-CN" b="1" dirty="0">
                  <a:solidFill>
                    <a:srgbClr val="C00000"/>
                  </a:solidFill>
                </a:rPr>
                <a:t> </a:t>
              </a:r>
            </a:p>
            <a:p>
              <a:pPr marL="2857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sz="2400" b="1" dirty="0"/>
                <a:t>已知靶蛋白，分析药物（                                             ）</a:t>
              </a:r>
              <a:endParaRPr lang="en-US" altLang="zh-CN" sz="2400" b="1" dirty="0"/>
            </a:p>
            <a:p>
              <a:pPr marL="7429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/>
                <a:t>平台</a:t>
              </a:r>
              <a:r>
                <a:rPr lang="en-US" altLang="zh-CN" b="1" dirty="0"/>
                <a:t>3</a:t>
              </a:r>
              <a:r>
                <a:rPr lang="zh-CN" altLang="en-US" b="1" dirty="0"/>
                <a:t>：高通量对接筛选 </a:t>
              </a:r>
              <a:r>
                <a:rPr lang="en-US" altLang="zh-CN" b="1" dirty="0"/>
                <a:t> </a:t>
              </a:r>
            </a:p>
            <a:p>
              <a:pPr marL="7429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/>
                <a:t>平台</a:t>
              </a:r>
              <a:r>
                <a:rPr lang="en-US" altLang="zh-CN" b="1" dirty="0"/>
                <a:t>4</a:t>
              </a:r>
              <a:r>
                <a:rPr lang="zh-CN" altLang="en-US" b="1" dirty="0"/>
                <a:t>：高通量实体库筛选 </a:t>
              </a:r>
              <a:r>
                <a:rPr lang="en-US" altLang="zh-CN" b="1" dirty="0"/>
                <a:t> </a:t>
              </a:r>
            </a:p>
            <a:p>
              <a:pPr marL="2857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sz="2400" b="1" dirty="0"/>
                <a:t>已知药物及靶蛋白，分析亚结构药效机制（                         ）</a:t>
              </a:r>
              <a:endParaRPr lang="en-US" altLang="zh-CN" sz="2400" b="1" dirty="0"/>
            </a:p>
            <a:p>
              <a:pPr marL="7429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/>
                <a:t>平台</a:t>
              </a:r>
              <a:r>
                <a:rPr lang="en-US" altLang="zh-CN" b="1" dirty="0"/>
                <a:t>5</a:t>
              </a:r>
              <a:r>
                <a:rPr lang="zh-CN" altLang="en-US" b="1" dirty="0"/>
                <a:t>：表位捕获平台</a:t>
              </a:r>
              <a:endParaRPr lang="en-US" altLang="zh-CN" b="1" dirty="0"/>
            </a:p>
            <a:p>
              <a:pPr marL="7429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/>
                <a:t>平台</a:t>
              </a:r>
              <a:r>
                <a:rPr lang="en-US" altLang="zh-CN" b="1" dirty="0"/>
                <a:t>6</a:t>
              </a:r>
              <a:r>
                <a:rPr lang="zh-CN" altLang="en-US" b="1" dirty="0"/>
                <a:t>：药效分子动力学运算平台</a:t>
              </a:r>
              <a:endParaRPr lang="en-US" altLang="zh-CN" b="1" dirty="0"/>
            </a:p>
            <a:p>
              <a:pPr marL="742950" lvl="1" indent="-285750">
                <a:lnSpc>
                  <a:spcPct val="175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/>
                <a:t>平台</a:t>
              </a:r>
              <a:r>
                <a:rPr lang="en-US" altLang="zh-CN" b="1" dirty="0"/>
                <a:t>7</a:t>
              </a:r>
              <a:r>
                <a:rPr lang="zh-CN" altLang="en-US" b="1" dirty="0"/>
                <a:t>：药物口袋反向验证平台</a:t>
              </a:r>
              <a:endParaRPr lang="en-US" altLang="zh-CN" b="1" dirty="0"/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2B1D95AC-1B34-55DA-6263-1838B95F0A17}"/>
                </a:ext>
              </a:extLst>
            </p:cNvPr>
            <p:cNvGrpSpPr/>
            <p:nvPr/>
          </p:nvGrpSpPr>
          <p:grpSpPr>
            <a:xfrm>
              <a:off x="6049400" y="1321082"/>
              <a:ext cx="3385614" cy="319433"/>
              <a:chOff x="10325098" y="2914385"/>
              <a:chExt cx="3385614" cy="319433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0637FEF1-B37D-61F3-B9E2-8992D42B92A4}"/>
                  </a:ext>
                </a:extLst>
              </p:cNvPr>
              <p:cNvSpPr/>
              <p:nvPr/>
            </p:nvSpPr>
            <p:spPr>
              <a:xfrm>
                <a:off x="10325098" y="2914385"/>
                <a:ext cx="1210878" cy="319433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药物</a:t>
                </a:r>
                <a:endParaRPr lang="en-US" altLang="zh-CN" sz="105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40B4757-2FFD-158B-1F6B-44C12E99DA38}"/>
                  </a:ext>
                </a:extLst>
              </p:cNvPr>
              <p:cNvSpPr/>
              <p:nvPr/>
            </p:nvSpPr>
            <p:spPr>
              <a:xfrm>
                <a:off x="12499834" y="2914385"/>
                <a:ext cx="1210878" cy="31943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靶蛋白</a:t>
                </a:r>
                <a:endParaRPr lang="en-US" altLang="zh-CN" sz="105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6B162826-1794-2D51-1E69-3CC599F94A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04936" y="3063344"/>
                <a:ext cx="629318" cy="0"/>
              </a:xfrm>
              <a:prstGeom prst="line">
                <a:avLst/>
              </a:prstGeom>
              <a:ln w="76200"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E5D84952-D713-E3CE-7389-192A1D6162D3}"/>
                </a:ext>
              </a:extLst>
            </p:cNvPr>
            <p:cNvGrpSpPr/>
            <p:nvPr/>
          </p:nvGrpSpPr>
          <p:grpSpPr>
            <a:xfrm>
              <a:off x="6073893" y="2955356"/>
              <a:ext cx="3342946" cy="319433"/>
              <a:chOff x="10367766" y="4117100"/>
              <a:chExt cx="3342946" cy="319433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7629624-F9BF-702A-149D-959C7AD61D7D}"/>
                  </a:ext>
                </a:extLst>
              </p:cNvPr>
              <p:cNvSpPr/>
              <p:nvPr/>
            </p:nvSpPr>
            <p:spPr>
              <a:xfrm>
                <a:off x="12499834" y="4117100"/>
                <a:ext cx="1210878" cy="319433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药物</a:t>
                </a:r>
                <a:endParaRPr lang="en-US" altLang="zh-CN" sz="105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1757CAB-E398-AEA5-A4A1-E025C3530F9E}"/>
                  </a:ext>
                </a:extLst>
              </p:cNvPr>
              <p:cNvSpPr/>
              <p:nvPr/>
            </p:nvSpPr>
            <p:spPr>
              <a:xfrm>
                <a:off x="10367766" y="4117100"/>
                <a:ext cx="1210878" cy="31943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靶蛋白</a:t>
                </a:r>
                <a:endParaRPr lang="en-US" altLang="zh-CN" sz="105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FEA51814-FAE0-7DB9-5B9F-1382EFDD99A5}"/>
                  </a:ext>
                </a:extLst>
              </p:cNvPr>
              <p:cNvCxnSpPr/>
              <p:nvPr/>
            </p:nvCxnSpPr>
            <p:spPr>
              <a:xfrm>
                <a:off x="11704936" y="4276816"/>
                <a:ext cx="629318" cy="0"/>
              </a:xfrm>
              <a:prstGeom prst="line">
                <a:avLst/>
              </a:prstGeom>
              <a:ln w="76200"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E44B56FF-175E-42ED-E239-C679D107A9A0}"/>
                </a:ext>
              </a:extLst>
            </p:cNvPr>
            <p:cNvGrpSpPr/>
            <p:nvPr/>
          </p:nvGrpSpPr>
          <p:grpSpPr>
            <a:xfrm>
              <a:off x="8346223" y="4542251"/>
              <a:ext cx="2037464" cy="319433"/>
              <a:chOff x="8263673" y="4514734"/>
              <a:chExt cx="2037464" cy="319433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B9479092-FC53-ED32-84C3-F09E6D24C2F0}"/>
                  </a:ext>
                </a:extLst>
              </p:cNvPr>
              <p:cNvGrpSpPr/>
              <p:nvPr/>
            </p:nvGrpSpPr>
            <p:grpSpPr>
              <a:xfrm>
                <a:off x="8263673" y="4514734"/>
                <a:ext cx="2037464" cy="319433"/>
                <a:chOff x="10367766" y="4117100"/>
                <a:chExt cx="2037464" cy="319433"/>
              </a:xfrm>
            </p:grpSpPr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0A30C108-DA8A-CBC9-B858-43A7F3A1E111}"/>
                    </a:ext>
                  </a:extLst>
                </p:cNvPr>
                <p:cNvSpPr/>
                <p:nvPr/>
              </p:nvSpPr>
              <p:spPr>
                <a:xfrm>
                  <a:off x="10749997" y="4117100"/>
                  <a:ext cx="382231" cy="319433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3">
                  <a:schemeClr val="accent4"/>
                </a:fillRef>
                <a:effectRef idx="2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20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药</a:t>
                  </a:r>
                  <a:endParaRPr lang="en-US" altLang="zh-CN" sz="105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1D8967F6-5DF2-4DED-6310-992CEAA7A33E}"/>
                    </a:ext>
                  </a:extLst>
                </p:cNvPr>
                <p:cNvSpPr/>
                <p:nvPr/>
              </p:nvSpPr>
              <p:spPr>
                <a:xfrm>
                  <a:off x="10367766" y="4117100"/>
                  <a:ext cx="382231" cy="319433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20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靶</a:t>
                  </a:r>
                  <a:endParaRPr lang="en-US" altLang="zh-CN" sz="105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7314BBFE-DF49-13DD-5CD6-1AB1C23E138A}"/>
                    </a:ext>
                  </a:extLst>
                </p:cNvPr>
                <p:cNvSpPr/>
                <p:nvPr/>
              </p:nvSpPr>
              <p:spPr>
                <a:xfrm>
                  <a:off x="11672864" y="4117100"/>
                  <a:ext cx="732366" cy="319433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20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机制</a:t>
                  </a:r>
                  <a:endParaRPr lang="en-US" altLang="zh-CN" sz="105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2AC62DCB-4027-5843-0979-D9429F664E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98046" y="4674450"/>
                <a:ext cx="406818" cy="0"/>
              </a:xfrm>
              <a:prstGeom prst="line">
                <a:avLst/>
              </a:prstGeom>
              <a:ln w="76200"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18676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glittergraphics.org/graphics/thank-you/images/10.jpg">
            <a:extLst>
              <a:ext uri="{FF2B5EF4-FFF2-40B4-BE49-F238E27FC236}">
                <a16:creationId xmlns:a16="http://schemas.microsoft.com/office/drawing/2014/main" id="{03622515-B69E-4DA2-A211-432C55F62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7309" y="1635394"/>
            <a:ext cx="5509522" cy="3691384"/>
          </a:xfrm>
          <a:prstGeom prst="rect">
            <a:avLst/>
          </a:prstGeom>
          <a:noFill/>
          <a:effectLst>
            <a:softEdge rad="127000"/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593A166-5F6F-D026-7D06-7ECB340DC5CF}"/>
              </a:ext>
            </a:extLst>
          </p:cNvPr>
          <p:cNvSpPr txBox="1"/>
          <p:nvPr/>
        </p:nvSpPr>
        <p:spPr>
          <a:xfrm>
            <a:off x="8804712" y="1635394"/>
            <a:ext cx="1569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/>
              <a:t>技术交流微信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9E41928-1128-5CB6-59BF-5E7BA2408097}"/>
              </a:ext>
            </a:extLst>
          </p:cNvPr>
          <p:cNvGrpSpPr/>
          <p:nvPr/>
        </p:nvGrpSpPr>
        <p:grpSpPr>
          <a:xfrm>
            <a:off x="7929931" y="2091622"/>
            <a:ext cx="3214780" cy="2926626"/>
            <a:chOff x="7709469" y="1819740"/>
            <a:chExt cx="3655704" cy="3328028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A1DB6C6A-8DF3-5633-D744-E7652A3A03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 contrast="20000"/>
                      </a14:imgEffect>
                    </a14:imgLayer>
                  </a14:imgProps>
                </a:ext>
              </a:extLst>
            </a:blip>
            <a:srcRect b="50192"/>
            <a:stretch/>
          </p:blipFill>
          <p:spPr>
            <a:xfrm rot="10800000">
              <a:off x="7709469" y="3370138"/>
              <a:ext cx="3599196" cy="1777630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A775889-440B-80E4-3C1E-F98990C02A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 contrast="20000"/>
                      </a14:imgEffect>
                    </a14:imgLayer>
                  </a14:imgProps>
                </a:ext>
              </a:extLst>
            </a:blip>
            <a:srcRect b="50192"/>
            <a:stretch/>
          </p:blipFill>
          <p:spPr>
            <a:xfrm>
              <a:off x="7765977" y="1819740"/>
              <a:ext cx="3599196" cy="1777630"/>
            </a:xfrm>
            <a:prstGeom prst="rect">
              <a:avLst/>
            </a:prstGeom>
          </p:spPr>
        </p:pic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B8D022D9-B748-4080-8292-61DF47CB560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6148" y="2344593"/>
            <a:ext cx="2385072" cy="240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24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CF06C28A-C337-7363-2B3E-BC4445BF97C3}"/>
              </a:ext>
            </a:extLst>
          </p:cNvPr>
          <p:cNvGrpSpPr/>
          <p:nvPr/>
        </p:nvGrpSpPr>
        <p:grpSpPr>
          <a:xfrm>
            <a:off x="2255477" y="5309825"/>
            <a:ext cx="2229535" cy="1177824"/>
            <a:chOff x="753408" y="4761591"/>
            <a:chExt cx="2726923" cy="1440585"/>
          </a:xfrm>
        </p:grpSpPr>
        <p:pic>
          <p:nvPicPr>
            <p:cNvPr id="16" name="Object 33">
              <a:extLst>
                <a:ext uri="{FF2B5EF4-FFF2-40B4-BE49-F238E27FC236}">
                  <a16:creationId xmlns:a16="http://schemas.microsoft.com/office/drawing/2014/main" id="{3965642C-4EEF-A0F3-6B5C-B6DEA9F0C3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4358" t="98391" r="4358" b="-1885"/>
            <a:stretch/>
          </p:blipFill>
          <p:spPr>
            <a:xfrm>
              <a:off x="753408" y="5444966"/>
              <a:ext cx="2726923" cy="22769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4FA8B7B-A370-8520-F645-48240577956D}"/>
                </a:ext>
              </a:extLst>
            </p:cNvPr>
            <p:cNvSpPr txBox="1"/>
            <p:nvPr/>
          </p:nvSpPr>
          <p:spPr>
            <a:xfrm>
              <a:off x="1700215" y="4761591"/>
              <a:ext cx="701039" cy="639945"/>
            </a:xfrm>
            <a:prstGeom prst="rect">
              <a:avLst/>
            </a:prstGeom>
            <a:ln w="762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A</a:t>
              </a:r>
              <a:endParaRPr lang="zh-CN" altLang="en-US" sz="2800" b="1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0CF269B-AAED-192C-DC47-55998A492005}"/>
                </a:ext>
              </a:extLst>
            </p:cNvPr>
            <p:cNvSpPr txBox="1"/>
            <p:nvPr/>
          </p:nvSpPr>
          <p:spPr>
            <a:xfrm>
              <a:off x="1009652" y="5863381"/>
              <a:ext cx="2082166" cy="338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固定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分子</a:t>
              </a:r>
            </a:p>
          </p:txBody>
        </p:sp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2B483B8-192F-36B0-F71C-0F97DE35E2FD}"/>
              </a:ext>
            </a:extLst>
          </p:cNvPr>
          <p:cNvCxnSpPr>
            <a:cxnSpLocks/>
          </p:cNvCxnSpPr>
          <p:nvPr/>
        </p:nvCxnSpPr>
        <p:spPr>
          <a:xfrm>
            <a:off x="1780032" y="4123523"/>
            <a:ext cx="863587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68857E6-8D80-096E-BFA8-2FBDB347BE2E}"/>
              </a:ext>
            </a:extLst>
          </p:cNvPr>
          <p:cNvGrpSpPr/>
          <p:nvPr/>
        </p:nvGrpSpPr>
        <p:grpSpPr>
          <a:xfrm>
            <a:off x="5157858" y="4408288"/>
            <a:ext cx="2229535" cy="2079361"/>
            <a:chOff x="4826503" y="3658931"/>
            <a:chExt cx="2726923" cy="2543245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0434A72-A2C8-B0CE-F3D7-B9EDF06DB43F}"/>
                </a:ext>
              </a:extLst>
            </p:cNvPr>
            <p:cNvSpPr txBox="1"/>
            <p:nvPr/>
          </p:nvSpPr>
          <p:spPr>
            <a:xfrm>
              <a:off x="5839446" y="4761590"/>
              <a:ext cx="701039" cy="639945"/>
            </a:xfrm>
            <a:prstGeom prst="rect">
              <a:avLst/>
            </a:prstGeom>
            <a:ln w="762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A</a:t>
              </a:r>
              <a:endParaRPr lang="zh-CN" altLang="en-US" sz="2800" b="1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E49C9DD-A32D-1D24-2DDD-32A0B03DB7B5}"/>
                </a:ext>
              </a:extLst>
            </p:cNvPr>
            <p:cNvSpPr txBox="1"/>
            <p:nvPr/>
          </p:nvSpPr>
          <p:spPr>
            <a:xfrm>
              <a:off x="5085637" y="3658931"/>
              <a:ext cx="701039" cy="639945"/>
            </a:xfrm>
            <a:prstGeom prst="rect">
              <a:avLst/>
            </a:prstGeom>
            <a:ln w="762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B</a:t>
              </a:r>
              <a:endParaRPr lang="zh-CN" altLang="en-US" sz="2800" b="1" dirty="0"/>
            </a:p>
          </p:txBody>
        </p: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70568A64-8F1B-33EF-F4EE-6B8F6F6DD356}"/>
                </a:ext>
              </a:extLst>
            </p:cNvPr>
            <p:cNvCxnSpPr>
              <a:cxnSpLocks/>
            </p:cNvCxnSpPr>
            <p:nvPr/>
          </p:nvCxnSpPr>
          <p:spPr>
            <a:xfrm>
              <a:off x="5721883" y="4432844"/>
              <a:ext cx="167524" cy="21638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6192664-CE24-ECDD-EBFD-99E80C06B498}"/>
                </a:ext>
              </a:extLst>
            </p:cNvPr>
            <p:cNvSpPr txBox="1"/>
            <p:nvPr/>
          </p:nvSpPr>
          <p:spPr>
            <a:xfrm>
              <a:off x="5148882" y="5863381"/>
              <a:ext cx="2082166" cy="338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B</a:t>
              </a:r>
              <a:r>
                <a: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分子结合</a:t>
              </a:r>
            </a:p>
          </p:txBody>
        </p:sp>
        <p:pic>
          <p:nvPicPr>
            <p:cNvPr id="26" name="Object 33">
              <a:extLst>
                <a:ext uri="{FF2B5EF4-FFF2-40B4-BE49-F238E27FC236}">
                  <a16:creationId xmlns:a16="http://schemas.microsoft.com/office/drawing/2014/main" id="{093CA89E-EB40-8637-E43E-7AC0EF5421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4358" t="98391" r="4358" b="-1885"/>
            <a:stretch/>
          </p:blipFill>
          <p:spPr>
            <a:xfrm>
              <a:off x="4826503" y="5444966"/>
              <a:ext cx="2726923" cy="227699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117EAA6-532C-216A-0DFA-34A491D04196}"/>
              </a:ext>
            </a:extLst>
          </p:cNvPr>
          <p:cNvGrpSpPr/>
          <p:nvPr/>
        </p:nvGrpSpPr>
        <p:grpSpPr>
          <a:xfrm>
            <a:off x="8060239" y="4722173"/>
            <a:ext cx="2229535" cy="1765476"/>
            <a:chOff x="9077416" y="4042840"/>
            <a:chExt cx="2726923" cy="2159336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1260FB3-A03B-5972-C639-611D3E91133A}"/>
                </a:ext>
              </a:extLst>
            </p:cNvPr>
            <p:cNvSpPr txBox="1"/>
            <p:nvPr/>
          </p:nvSpPr>
          <p:spPr>
            <a:xfrm>
              <a:off x="10090359" y="4761591"/>
              <a:ext cx="701039" cy="639945"/>
            </a:xfrm>
            <a:prstGeom prst="rect">
              <a:avLst/>
            </a:prstGeom>
            <a:ln w="762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A</a:t>
              </a:r>
              <a:endParaRPr lang="zh-CN" altLang="en-US" sz="2800" b="1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FDF751A-590B-055E-04D8-10C6CF5F6FF6}"/>
                </a:ext>
              </a:extLst>
            </p:cNvPr>
            <p:cNvSpPr txBox="1"/>
            <p:nvPr/>
          </p:nvSpPr>
          <p:spPr>
            <a:xfrm>
              <a:off x="10090406" y="4042840"/>
              <a:ext cx="701039" cy="639945"/>
            </a:xfrm>
            <a:prstGeom prst="rect">
              <a:avLst/>
            </a:prstGeom>
            <a:ln w="762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/>
                <a:t>B</a:t>
              </a:r>
              <a:endParaRPr lang="zh-CN" altLang="en-US" sz="2800" b="1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1D4CCD7-3AB2-8D2A-0E1D-1BA42396F4A9}"/>
                </a:ext>
              </a:extLst>
            </p:cNvPr>
            <p:cNvSpPr txBox="1"/>
            <p:nvPr/>
          </p:nvSpPr>
          <p:spPr>
            <a:xfrm>
              <a:off x="9490823" y="5863381"/>
              <a:ext cx="2082166" cy="338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得到</a:t>
              </a: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复合体</a:t>
              </a:r>
            </a:p>
          </p:txBody>
        </p:sp>
        <p:pic>
          <p:nvPicPr>
            <p:cNvPr id="27" name="Object 33">
              <a:extLst>
                <a:ext uri="{FF2B5EF4-FFF2-40B4-BE49-F238E27FC236}">
                  <a16:creationId xmlns:a16="http://schemas.microsoft.com/office/drawing/2014/main" id="{FCFECE27-76C1-168B-5969-B902295FB2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4358" t="98391" r="4358" b="-1885"/>
            <a:stretch/>
          </p:blipFill>
          <p:spPr>
            <a:xfrm>
              <a:off x="9077416" y="5444966"/>
              <a:ext cx="2726923" cy="227699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6F17CE24-E08B-3BC1-7670-4BAF7A803C55}"/>
              </a:ext>
            </a:extLst>
          </p:cNvPr>
          <p:cNvGrpSpPr/>
          <p:nvPr/>
        </p:nvGrpSpPr>
        <p:grpSpPr>
          <a:xfrm>
            <a:off x="3078845" y="1728571"/>
            <a:ext cx="5154933" cy="523220"/>
            <a:chOff x="3078845" y="1728571"/>
            <a:chExt cx="5154933" cy="523220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6C3879AB-3F54-D05E-E361-DEA753A4359A}"/>
                </a:ext>
              </a:extLst>
            </p:cNvPr>
            <p:cNvGrpSpPr/>
            <p:nvPr/>
          </p:nvGrpSpPr>
          <p:grpSpPr>
            <a:xfrm>
              <a:off x="4324012" y="1728571"/>
              <a:ext cx="3909766" cy="523220"/>
              <a:chOff x="3521550" y="2012203"/>
              <a:chExt cx="4781997" cy="639945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577C49C-3CC4-5E42-FAEF-ADB7D0AAD7B6}"/>
                  </a:ext>
                </a:extLst>
              </p:cNvPr>
              <p:cNvSpPr txBox="1"/>
              <p:nvPr/>
            </p:nvSpPr>
            <p:spPr>
              <a:xfrm>
                <a:off x="3521550" y="2012203"/>
                <a:ext cx="701039" cy="639945"/>
              </a:xfrm>
              <a:prstGeom prst="rect">
                <a:avLst/>
              </a:prstGeom>
              <a:ln w="76200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b="1" dirty="0"/>
                  <a:t>A</a:t>
                </a:r>
                <a:endParaRPr lang="zh-CN" altLang="en-US" sz="2800" b="1" dirty="0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F1AA5EF4-895D-2BDE-943B-585841EBB761}"/>
                  </a:ext>
                </a:extLst>
              </p:cNvPr>
              <p:cNvSpPr txBox="1"/>
              <p:nvPr/>
            </p:nvSpPr>
            <p:spPr>
              <a:xfrm>
                <a:off x="5087477" y="2012203"/>
                <a:ext cx="701039" cy="639945"/>
              </a:xfrm>
              <a:prstGeom prst="rect">
                <a:avLst/>
              </a:prstGeom>
              <a:ln w="762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b="1" dirty="0"/>
                  <a:t>B</a:t>
                </a:r>
                <a:endParaRPr lang="zh-CN" altLang="en-US" sz="2800" b="1" dirty="0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F3DF1977-9589-0334-260C-13CA68B055F6}"/>
                  </a:ext>
                </a:extLst>
              </p:cNvPr>
              <p:cNvSpPr txBox="1"/>
              <p:nvPr/>
            </p:nvSpPr>
            <p:spPr>
              <a:xfrm>
                <a:off x="7126258" y="2012203"/>
                <a:ext cx="1177289" cy="639945"/>
              </a:xfrm>
              <a:prstGeom prst="rect">
                <a:avLst/>
              </a:prstGeom>
              <a:ln w="76200"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b="1" dirty="0"/>
                  <a:t>AB</a:t>
                </a:r>
                <a:endParaRPr lang="zh-CN" altLang="en-US" sz="2800" b="1" dirty="0"/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2584AB5B-A4D0-4773-37D2-4EB8045B622F}"/>
                  </a:ext>
                </a:extLst>
              </p:cNvPr>
              <p:cNvSpPr txBox="1"/>
              <p:nvPr/>
            </p:nvSpPr>
            <p:spPr>
              <a:xfrm>
                <a:off x="4418671" y="2012203"/>
                <a:ext cx="531719" cy="6399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/>
                  <a:t>+</a:t>
                </a:r>
                <a:endParaRPr lang="zh-CN" altLang="en-US" sz="2800" b="1" dirty="0"/>
              </a:p>
            </p:txBody>
          </p: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38BAD34F-C366-6441-1E09-AAA2ACDD9C1B}"/>
                  </a:ext>
                </a:extLst>
              </p:cNvPr>
              <p:cNvCxnSpPr/>
              <p:nvPr/>
            </p:nvCxnSpPr>
            <p:spPr>
              <a:xfrm>
                <a:off x="6134057" y="2340477"/>
                <a:ext cx="673850" cy="0"/>
              </a:xfrm>
              <a:prstGeom prst="line">
                <a:avLst/>
              </a:prstGeom>
              <a:ln w="57150">
                <a:solidFill>
                  <a:schemeClr val="tx1">
                    <a:lumMod val="85000"/>
                    <a:lumOff val="1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573FF73-4C0A-05C7-52D4-621AF44FF09E}"/>
                </a:ext>
              </a:extLst>
            </p:cNvPr>
            <p:cNvSpPr txBox="1"/>
            <p:nvPr/>
          </p:nvSpPr>
          <p:spPr>
            <a:xfrm>
              <a:off x="3078845" y="1870117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宏观过程：</a:t>
              </a: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34FBBE0A-F7B2-0677-1D41-6FF446CF46BD}"/>
              </a:ext>
            </a:extLst>
          </p:cNvPr>
          <p:cNvGrpSpPr/>
          <p:nvPr/>
        </p:nvGrpSpPr>
        <p:grpSpPr>
          <a:xfrm>
            <a:off x="3078845" y="2541050"/>
            <a:ext cx="5154933" cy="808571"/>
            <a:chOff x="3078845" y="2687506"/>
            <a:chExt cx="5154933" cy="80857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CA163E2-EB67-5216-081F-304E426F9E53}"/>
                </a:ext>
              </a:extLst>
            </p:cNvPr>
            <p:cNvGrpSpPr/>
            <p:nvPr/>
          </p:nvGrpSpPr>
          <p:grpSpPr>
            <a:xfrm>
              <a:off x="4324012" y="2687506"/>
              <a:ext cx="3909766" cy="808571"/>
              <a:chOff x="2663398" y="2619626"/>
              <a:chExt cx="6375996" cy="1318607"/>
            </a:xfrm>
          </p:grpSpPr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92084A1D-32B6-4FAC-4BD2-7C267456A275}"/>
                  </a:ext>
                </a:extLst>
              </p:cNvPr>
              <p:cNvSpPr txBox="1"/>
              <p:nvPr/>
            </p:nvSpPr>
            <p:spPr>
              <a:xfrm>
                <a:off x="2663398" y="2804293"/>
                <a:ext cx="934718" cy="853260"/>
              </a:xfrm>
              <a:prstGeom prst="rect">
                <a:avLst/>
              </a:prstGeom>
              <a:ln w="76200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b="1" dirty="0"/>
                  <a:t>A</a:t>
                </a:r>
                <a:endParaRPr lang="zh-CN" altLang="en-US" sz="2800" b="1" dirty="0"/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E0AB2E2-1C8A-6A93-9A23-790EF6203331}"/>
                  </a:ext>
                </a:extLst>
              </p:cNvPr>
              <p:cNvSpPr txBox="1"/>
              <p:nvPr/>
            </p:nvSpPr>
            <p:spPr>
              <a:xfrm>
                <a:off x="4751301" y="2804293"/>
                <a:ext cx="934718" cy="853260"/>
              </a:xfrm>
              <a:prstGeom prst="rect">
                <a:avLst/>
              </a:prstGeom>
              <a:ln w="762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b="1" dirty="0"/>
                  <a:t>B</a:t>
                </a:r>
                <a:endParaRPr lang="zh-CN" altLang="en-US" sz="2800" b="1" dirty="0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80CA6503-26C7-4AFC-2C9D-E80E567F1F72}"/>
                  </a:ext>
                </a:extLst>
              </p:cNvPr>
              <p:cNvSpPr txBox="1"/>
              <p:nvPr/>
            </p:nvSpPr>
            <p:spPr>
              <a:xfrm>
                <a:off x="7469675" y="2804293"/>
                <a:ext cx="1569719" cy="853260"/>
              </a:xfrm>
              <a:prstGeom prst="rect">
                <a:avLst/>
              </a:prstGeom>
              <a:ln w="76200"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b="1" dirty="0"/>
                  <a:t>AB</a:t>
                </a:r>
                <a:endParaRPr lang="zh-CN" altLang="en-US" sz="2800" b="1" dirty="0"/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BE9D62F8-1B98-5623-C4B9-4753825D8C3C}"/>
                  </a:ext>
                </a:extLst>
              </p:cNvPr>
              <p:cNvSpPr txBox="1"/>
              <p:nvPr/>
            </p:nvSpPr>
            <p:spPr>
              <a:xfrm>
                <a:off x="3859559" y="2804293"/>
                <a:ext cx="708959" cy="8532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/>
                  <a:t>+</a:t>
                </a:r>
                <a:endParaRPr lang="zh-CN" altLang="en-US" sz="2800" b="1" dirty="0"/>
              </a:p>
            </p:txBody>
          </p: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0BC64FA5-B579-21B2-F11A-AF82D6F8509A}"/>
                  </a:ext>
                </a:extLst>
              </p:cNvPr>
              <p:cNvGrpSpPr/>
              <p:nvPr/>
            </p:nvGrpSpPr>
            <p:grpSpPr>
              <a:xfrm>
                <a:off x="6110488" y="3121001"/>
                <a:ext cx="934719" cy="228355"/>
                <a:chOff x="5016795" y="1608912"/>
                <a:chExt cx="1670296" cy="269555"/>
              </a:xfrm>
            </p:grpSpPr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9F24AC79-4925-A825-9B42-F95C69EE9F2C}"/>
                    </a:ext>
                  </a:extLst>
                </p:cNvPr>
                <p:cNvCxnSpPr/>
                <p:nvPr/>
              </p:nvCxnSpPr>
              <p:spPr>
                <a:xfrm>
                  <a:off x="5081575" y="1608912"/>
                  <a:ext cx="1605516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B4ACEB19-A0E4-13B3-289F-7C2A6D3A7714}"/>
                    </a:ext>
                  </a:extLst>
                </p:cNvPr>
                <p:cNvCxnSpPr/>
                <p:nvPr/>
              </p:nvCxnSpPr>
              <p:spPr>
                <a:xfrm>
                  <a:off x="5016795" y="1878467"/>
                  <a:ext cx="1605516" cy="0"/>
                </a:xfrm>
                <a:prstGeom prst="line">
                  <a:avLst/>
                </a:prstGeom>
                <a:ln w="57150">
                  <a:solidFill>
                    <a:schemeClr val="tx1">
                      <a:lumMod val="85000"/>
                      <a:lumOff val="1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84B6AE3C-BB8E-6C93-CA9E-66A6F21DD930}"/>
                  </a:ext>
                </a:extLst>
              </p:cNvPr>
              <p:cNvSpPr txBox="1"/>
              <p:nvPr/>
            </p:nvSpPr>
            <p:spPr>
              <a:xfrm>
                <a:off x="6273514" y="2619626"/>
                <a:ext cx="761242" cy="4266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结合</a:t>
                </a: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E8DE922-5214-D0E8-B3FC-3A78330F853E}"/>
                  </a:ext>
                </a:extLst>
              </p:cNvPr>
              <p:cNvSpPr txBox="1"/>
              <p:nvPr/>
            </p:nvSpPr>
            <p:spPr>
              <a:xfrm>
                <a:off x="6273514" y="3511603"/>
                <a:ext cx="761242" cy="4266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解离</a:t>
                </a:r>
              </a:p>
            </p:txBody>
          </p: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E4B46F1-DC13-D315-187C-A705D91637DA}"/>
                </a:ext>
              </a:extLst>
            </p:cNvPr>
            <p:cNvSpPr txBox="1"/>
            <p:nvPr/>
          </p:nvSpPr>
          <p:spPr>
            <a:xfrm>
              <a:off x="3078845" y="2942291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微观过程：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57C9870B-4786-7591-6B70-B3D5D1E5EA9A}"/>
              </a:ext>
            </a:extLst>
          </p:cNvPr>
          <p:cNvGrpSpPr/>
          <p:nvPr/>
        </p:nvGrpSpPr>
        <p:grpSpPr>
          <a:xfrm>
            <a:off x="4461710" y="3460125"/>
            <a:ext cx="3460185" cy="369332"/>
            <a:chOff x="4461710" y="3684285"/>
            <a:chExt cx="3460185" cy="369332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BBBA2A6-D893-1AC9-F90D-2E7B78736B9E}"/>
                </a:ext>
              </a:extLst>
            </p:cNvPr>
            <p:cNvSpPr txBox="1"/>
            <p:nvPr/>
          </p:nvSpPr>
          <p:spPr>
            <a:xfrm>
              <a:off x="4461710" y="368428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x</a:t>
              </a:r>
              <a:endParaRPr lang="zh-CN" alt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252BBD1-9212-E5B9-B6BB-0DEC32BED779}"/>
                </a:ext>
              </a:extLst>
            </p:cNvPr>
            <p:cNvSpPr txBox="1"/>
            <p:nvPr/>
          </p:nvSpPr>
          <p:spPr>
            <a:xfrm>
              <a:off x="5740704" y="36842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y</a:t>
              </a:r>
              <a:endParaRPr lang="zh-CN" alt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3C53AAF-E92C-FF4A-318B-9B49EED07169}"/>
                </a:ext>
              </a:extLst>
            </p:cNvPr>
            <p:cNvSpPr txBox="1"/>
            <p:nvPr/>
          </p:nvSpPr>
          <p:spPr>
            <a:xfrm>
              <a:off x="7629827" y="3684285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z</a:t>
              </a:r>
              <a:endParaRPr lang="zh-CN" alt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DF5F0FF-BC2F-C2D1-437F-4715A618A2BD}"/>
                </a:ext>
              </a:extLst>
            </p:cNvPr>
            <p:cNvSpPr txBox="1"/>
            <p:nvPr/>
          </p:nvSpPr>
          <p:spPr>
            <a:xfrm>
              <a:off x="5123047" y="368428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：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10856928-DC17-9AEE-1818-D1AD24F6A2CF}"/>
                </a:ext>
              </a:extLst>
            </p:cNvPr>
            <p:cNvSpPr txBox="1"/>
            <p:nvPr/>
          </p:nvSpPr>
          <p:spPr>
            <a:xfrm>
              <a:off x="6626943" y="368428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</a:effectLst>
                </a:rPr>
                <a:t>：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B2B37C88-495D-5A28-3DFF-6B65F2123CC9}"/>
              </a:ext>
            </a:extLst>
          </p:cNvPr>
          <p:cNvSpPr txBox="1">
            <a:spLocks/>
          </p:cNvSpPr>
          <p:nvPr/>
        </p:nvSpPr>
        <p:spPr>
          <a:xfrm>
            <a:off x="838200" y="454772"/>
            <a:ext cx="10515600" cy="5524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技术背景：反应平衡</a:t>
            </a:r>
          </a:p>
        </p:txBody>
      </p:sp>
    </p:spTree>
    <p:extLst>
      <p:ext uri="{BB962C8B-B14F-4D97-AF65-F5344CB8AC3E}">
        <p14:creationId xmlns:p14="http://schemas.microsoft.com/office/powerpoint/2010/main" val="2109261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61201B0-DB2C-4A0E-A28A-98C40FD25F7A}"/>
              </a:ext>
            </a:extLst>
          </p:cNvPr>
          <p:cNvGrpSpPr/>
          <p:nvPr/>
        </p:nvGrpSpPr>
        <p:grpSpPr>
          <a:xfrm>
            <a:off x="471950" y="1881426"/>
            <a:ext cx="11388395" cy="3861202"/>
            <a:chOff x="471950" y="2163819"/>
            <a:chExt cx="11388395" cy="3861202"/>
          </a:xfrm>
        </p:grpSpPr>
        <p:pic>
          <p:nvPicPr>
            <p:cNvPr id="5" name="SPR原理.jpg" descr="C:\Users\caesar\Desktop\SPR原理.jpg">
              <a:hlinkClick r:id="rId2" action="ppaction://hlinkfile"/>
              <a:extLst>
                <a:ext uri="{FF2B5EF4-FFF2-40B4-BE49-F238E27FC236}">
                  <a16:creationId xmlns:a16="http://schemas.microsoft.com/office/drawing/2014/main" id="{FEDA8A09-0471-475D-B14D-C0DFB015D345}"/>
                </a:ext>
              </a:extLst>
            </p:cNvPr>
            <p:cNvPicPr/>
            <p:nvPr/>
          </p:nvPicPr>
          <p:blipFill rotWithShape="1">
            <a:blip r:embed="rId3"/>
            <a:srcRect l="11839" r="5252" b="7452"/>
            <a:stretch/>
          </p:blipFill>
          <p:spPr>
            <a:xfrm>
              <a:off x="471950" y="2163819"/>
              <a:ext cx="4134764" cy="3553425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C62048AE-24B2-43D7-9877-85D31E4A3677}"/>
                </a:ext>
              </a:extLst>
            </p:cNvPr>
            <p:cNvPicPr>
              <a:picLocks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836"/>
            <a:stretch/>
          </p:blipFill>
          <p:spPr>
            <a:xfrm>
              <a:off x="9615566" y="4145900"/>
              <a:ext cx="2244779" cy="1571345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6" name="图片 35" descr="图片包含 计算机, 监视器, 笔记本电脑, 餐桌&#10;&#10;已生成极高可信度的说明">
              <a:extLst>
                <a:ext uri="{FF2B5EF4-FFF2-40B4-BE49-F238E27FC236}">
                  <a16:creationId xmlns:a16="http://schemas.microsoft.com/office/drawing/2014/main" id="{543BF366-F7D9-400D-A148-5DDCD69833CA}"/>
                </a:ext>
              </a:extLst>
            </p:cNvPr>
            <p:cNvPicPr>
              <a:picLocks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1340"/>
            <a:stretch/>
          </p:blipFill>
          <p:spPr>
            <a:xfrm>
              <a:off x="7159672" y="2163819"/>
              <a:ext cx="2244782" cy="1571346"/>
            </a:xfrm>
            <a:prstGeom prst="rect">
              <a:avLst/>
            </a:prstGeom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040AAB07-ED73-461D-BAF0-B93B64BBD07A}"/>
                </a:ext>
              </a:extLst>
            </p:cNvPr>
            <p:cNvPicPr>
              <a:picLocks/>
            </p:cNvPicPr>
            <p:nvPr/>
          </p:nvPicPr>
          <p:blipFill rotWithShape="1">
            <a:blip r:embed="rId6"/>
            <a:srcRect r="786"/>
            <a:stretch/>
          </p:blipFill>
          <p:spPr>
            <a:xfrm>
              <a:off x="4740687" y="2163819"/>
              <a:ext cx="2244779" cy="1571345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B847FB22-2C59-4D4E-A384-4E998156A606}"/>
                </a:ext>
              </a:extLst>
            </p:cNvPr>
            <p:cNvPicPr>
              <a:picLocks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740688" y="4145900"/>
              <a:ext cx="2244779" cy="1571345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9" name="图片 38" descr="图片包含 计算机, 监视器, 笔记本电脑, 餐桌&#10;&#10;已生成极高可信度的说明">
              <a:extLst>
                <a:ext uri="{FF2B5EF4-FFF2-40B4-BE49-F238E27FC236}">
                  <a16:creationId xmlns:a16="http://schemas.microsoft.com/office/drawing/2014/main" id="{5422C226-44D3-4784-A5AB-87E424812A8C}"/>
                </a:ext>
              </a:extLst>
            </p:cNvPr>
            <p:cNvPicPr>
              <a:picLocks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10"/>
            <a:stretch/>
          </p:blipFill>
          <p:spPr>
            <a:xfrm>
              <a:off x="7159196" y="4145900"/>
              <a:ext cx="2244779" cy="1571345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C6B94D24-0A8E-4820-8DAD-476805956EA1}"/>
                </a:ext>
              </a:extLst>
            </p:cNvPr>
            <p:cNvPicPr>
              <a:picLocks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836"/>
            <a:stretch/>
          </p:blipFill>
          <p:spPr>
            <a:xfrm>
              <a:off x="9615566" y="2163820"/>
              <a:ext cx="2244779" cy="1571345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B1B4FD69-87BF-4617-ABFA-8F8D11C3FE38}"/>
                </a:ext>
              </a:extLst>
            </p:cNvPr>
            <p:cNvSpPr txBox="1"/>
            <p:nvPr/>
          </p:nvSpPr>
          <p:spPr>
            <a:xfrm>
              <a:off x="5229451" y="3735164"/>
              <a:ext cx="13965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1.</a:t>
              </a:r>
              <a:r>
                <a:rPr lang="zh-CN" altLang="en-US" sz="1400" dirty="0"/>
                <a:t>阵列打印图纸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E3BBB6D-94AC-4CDA-AAD8-2340E5908EAC}"/>
                </a:ext>
              </a:extLst>
            </p:cNvPr>
            <p:cNvSpPr txBox="1"/>
            <p:nvPr/>
          </p:nvSpPr>
          <p:spPr>
            <a:xfrm>
              <a:off x="5050664" y="5717244"/>
              <a:ext cx="17556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2.</a:t>
              </a:r>
              <a:r>
                <a:rPr lang="zh-CN" altLang="en-US" sz="1400" dirty="0"/>
                <a:t>阵列表面扫描图像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3E8190BF-6CD6-44C2-8520-32B44A2FC6DA}"/>
                </a:ext>
              </a:extLst>
            </p:cNvPr>
            <p:cNvSpPr txBox="1"/>
            <p:nvPr/>
          </p:nvSpPr>
          <p:spPr>
            <a:xfrm>
              <a:off x="7363269" y="3735164"/>
              <a:ext cx="19351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3.</a:t>
              </a:r>
              <a:r>
                <a:rPr lang="zh-CN" altLang="en-US" sz="1400" dirty="0"/>
                <a:t>样品共振扫描平面图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2BDB0871-7B9E-401B-B37C-D8DA08353F0B}"/>
                </a:ext>
              </a:extLst>
            </p:cNvPr>
            <p:cNvSpPr txBox="1"/>
            <p:nvPr/>
          </p:nvSpPr>
          <p:spPr>
            <a:xfrm>
              <a:off x="7368076" y="5717244"/>
              <a:ext cx="18053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4. </a:t>
              </a:r>
              <a:r>
                <a:rPr lang="zh-CN" altLang="en-US" sz="1400" dirty="0"/>
                <a:t>样品共振强度峰图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0609EE6-DB31-429E-B00C-6D2E85E35DC0}"/>
                </a:ext>
              </a:extLst>
            </p:cNvPr>
            <p:cNvSpPr txBox="1"/>
            <p:nvPr/>
          </p:nvSpPr>
          <p:spPr>
            <a:xfrm>
              <a:off x="10249870" y="3735164"/>
              <a:ext cx="10374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5.</a:t>
              </a:r>
              <a:r>
                <a:rPr lang="zh-CN" altLang="en-US" sz="1400" dirty="0"/>
                <a:t>基底信号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D12DD67D-7E6E-43F4-8C90-B8FAB9DE036C}"/>
                </a:ext>
              </a:extLst>
            </p:cNvPr>
            <p:cNvSpPr txBox="1"/>
            <p:nvPr/>
          </p:nvSpPr>
          <p:spPr>
            <a:xfrm>
              <a:off x="10045486" y="5717244"/>
              <a:ext cx="14462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6.</a:t>
              </a:r>
              <a:r>
                <a:rPr lang="zh-CN" altLang="en-US" sz="1400" dirty="0"/>
                <a:t> 配体结合信号</a:t>
              </a: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75D5482-C63B-403C-853F-771EA8811563}"/>
                </a:ext>
              </a:extLst>
            </p:cNvPr>
            <p:cNvSpPr/>
            <p:nvPr/>
          </p:nvSpPr>
          <p:spPr>
            <a:xfrm>
              <a:off x="471950" y="2163819"/>
              <a:ext cx="6094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  <a:sym typeface="华文楷体" pitchFamily="2" charset="-122"/>
                </a:rPr>
                <a:t>SPR</a:t>
              </a:r>
              <a:endParaRPr lang="zh-CN" altLang="en-US" dirty="0"/>
            </a:p>
          </p:txBody>
        </p:sp>
      </p:grpSp>
      <p:sp>
        <p:nvSpPr>
          <p:cNvPr id="9" name="标题 1">
            <a:extLst>
              <a:ext uri="{FF2B5EF4-FFF2-40B4-BE49-F238E27FC236}">
                <a16:creationId xmlns:a16="http://schemas.microsoft.com/office/drawing/2014/main" id="{CDA037BA-A5A3-2EB1-B2C6-2D16FAB39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1849"/>
            <a:ext cx="10515600" cy="552451"/>
          </a:xfrm>
        </p:spPr>
        <p:txBody>
          <a:bodyPr>
            <a:noAutofit/>
          </a:bodyPr>
          <a:lstStyle/>
          <a:p>
            <a:pPr algn="ctr">
              <a:lnSpc>
                <a:spcPct val="126000"/>
              </a:lnSpc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  <a:t>技术基础：表面等离子共振</a:t>
            </a:r>
            <a:br>
              <a:rPr lang="en-US" altLang="zh-CN" sz="2800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</a:br>
            <a:r>
              <a:rPr lang="zh-CN" altLang="en-US" sz="1800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  <a:t>（</a:t>
            </a:r>
            <a:r>
              <a:rPr lang="en-US" altLang="zh-CN" sz="1800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  <a:t>Surface Plasmon Resonance, </a:t>
            </a:r>
            <a:r>
              <a:rPr lang="zh-CN" altLang="en-US" sz="1800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  <a:t>SPR）</a:t>
            </a:r>
            <a:endParaRPr lang="zh-CN" altLang="en-US" sz="28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55703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17AA8A77-49F6-197E-EF5D-C01C8FA7AE2A}"/>
              </a:ext>
            </a:extLst>
          </p:cNvPr>
          <p:cNvGrpSpPr/>
          <p:nvPr/>
        </p:nvGrpSpPr>
        <p:grpSpPr>
          <a:xfrm>
            <a:off x="2728137" y="1618464"/>
            <a:ext cx="6916554" cy="4510784"/>
            <a:chOff x="2753537" y="1377164"/>
            <a:chExt cx="6916554" cy="4510784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E62A8F53-FDD9-24A1-8F50-BBCF91D688B6}"/>
                </a:ext>
              </a:extLst>
            </p:cNvPr>
            <p:cNvGrpSpPr/>
            <p:nvPr/>
          </p:nvGrpSpPr>
          <p:grpSpPr>
            <a:xfrm>
              <a:off x="2753537" y="1747105"/>
              <a:ext cx="6527329" cy="2944098"/>
              <a:chOff x="2753537" y="1747105"/>
              <a:chExt cx="6527329" cy="294409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6255845" y="2288168"/>
                <a:ext cx="3025021" cy="2281664"/>
                <a:chOff x="1067584" y="2157170"/>
                <a:chExt cx="3025021" cy="2281664"/>
              </a:xfrm>
            </p:grpSpPr>
            <p:sp>
              <p:nvSpPr>
                <p:cNvPr id="16" name="矩形 15"/>
                <p:cNvSpPr/>
                <p:nvPr/>
              </p:nvSpPr>
              <p:spPr>
                <a:xfrm>
                  <a:off x="1067584" y="2157170"/>
                  <a:ext cx="3025021" cy="228166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600" dirty="0"/>
                </a:p>
              </p:txBody>
            </p:sp>
            <p:sp>
              <p:nvSpPr>
                <p:cNvPr id="17" name="任意多边形 16"/>
                <p:cNvSpPr/>
                <p:nvPr/>
              </p:nvSpPr>
              <p:spPr>
                <a:xfrm>
                  <a:off x="2373119" y="2192821"/>
                  <a:ext cx="338003" cy="774864"/>
                </a:xfrm>
                <a:custGeom>
                  <a:avLst/>
                  <a:gdLst>
                    <a:gd name="connsiteX0" fmla="*/ 0 w 2664296"/>
                    <a:gd name="connsiteY0" fmla="*/ 4176464 h 4176464"/>
                    <a:gd name="connsiteX1" fmla="*/ 0 w 2664296"/>
                    <a:gd name="connsiteY1" fmla="*/ 0 h 4176464"/>
                    <a:gd name="connsiteX2" fmla="*/ 2664296 w 2664296"/>
                    <a:gd name="connsiteY2" fmla="*/ 4176464 h 4176464"/>
                    <a:gd name="connsiteX3" fmla="*/ 0 w 2664296"/>
                    <a:gd name="connsiteY3" fmla="*/ 4176464 h 4176464"/>
                    <a:gd name="connsiteX0" fmla="*/ 0 w 2664296"/>
                    <a:gd name="connsiteY0" fmla="*/ 4176464 h 4176464"/>
                    <a:gd name="connsiteX1" fmla="*/ 0 w 2664296"/>
                    <a:gd name="connsiteY1" fmla="*/ 0 h 4176464"/>
                    <a:gd name="connsiteX2" fmla="*/ 720080 w 2664296"/>
                    <a:gd name="connsiteY2" fmla="*/ 1800200 h 4176464"/>
                    <a:gd name="connsiteX3" fmla="*/ 2664296 w 2664296"/>
                    <a:gd name="connsiteY3" fmla="*/ 4176464 h 4176464"/>
                    <a:gd name="connsiteX4" fmla="*/ 0 w 2664296"/>
                    <a:gd name="connsiteY4" fmla="*/ 4176464 h 4176464"/>
                    <a:gd name="connsiteX0" fmla="*/ 0 w 2664296"/>
                    <a:gd name="connsiteY0" fmla="*/ 4176464 h 4176464"/>
                    <a:gd name="connsiteX1" fmla="*/ 0 w 2664296"/>
                    <a:gd name="connsiteY1" fmla="*/ 0 h 4176464"/>
                    <a:gd name="connsiteX2" fmla="*/ 720080 w 2664296"/>
                    <a:gd name="connsiteY2" fmla="*/ 1800200 h 4176464"/>
                    <a:gd name="connsiteX3" fmla="*/ 2664296 w 2664296"/>
                    <a:gd name="connsiteY3" fmla="*/ 4176464 h 4176464"/>
                    <a:gd name="connsiteX4" fmla="*/ 0 w 2664296"/>
                    <a:gd name="connsiteY4" fmla="*/ 4176464 h 4176464"/>
                    <a:gd name="connsiteX0" fmla="*/ 0 w 2664296"/>
                    <a:gd name="connsiteY0" fmla="*/ 4176464 h 4176464"/>
                    <a:gd name="connsiteX1" fmla="*/ 0 w 2664296"/>
                    <a:gd name="connsiteY1" fmla="*/ 0 h 4176464"/>
                    <a:gd name="connsiteX2" fmla="*/ 720080 w 2664296"/>
                    <a:gd name="connsiteY2" fmla="*/ 1800200 h 4176464"/>
                    <a:gd name="connsiteX3" fmla="*/ 2664296 w 2664296"/>
                    <a:gd name="connsiteY3" fmla="*/ 4176464 h 4176464"/>
                    <a:gd name="connsiteX4" fmla="*/ 0 w 2664296"/>
                    <a:gd name="connsiteY4" fmla="*/ 4176464 h 4176464"/>
                    <a:gd name="connsiteX0" fmla="*/ 0 w 2954538"/>
                    <a:gd name="connsiteY0" fmla="*/ 4176464 h 4176464"/>
                    <a:gd name="connsiteX1" fmla="*/ 0 w 2954538"/>
                    <a:gd name="connsiteY1" fmla="*/ 0 h 4176464"/>
                    <a:gd name="connsiteX2" fmla="*/ 720080 w 2954538"/>
                    <a:gd name="connsiteY2" fmla="*/ 1800200 h 4176464"/>
                    <a:gd name="connsiteX3" fmla="*/ 1512168 w 2954538"/>
                    <a:gd name="connsiteY3" fmla="*/ 3168352 h 4176464"/>
                    <a:gd name="connsiteX4" fmla="*/ 2664296 w 2954538"/>
                    <a:gd name="connsiteY4" fmla="*/ 4176464 h 4176464"/>
                    <a:gd name="connsiteX5" fmla="*/ 0 w 2954538"/>
                    <a:gd name="connsiteY5" fmla="*/ 4176464 h 4176464"/>
                    <a:gd name="connsiteX0" fmla="*/ 0 w 3056834"/>
                    <a:gd name="connsiteY0" fmla="*/ 4176464 h 4176464"/>
                    <a:gd name="connsiteX1" fmla="*/ 0 w 3056834"/>
                    <a:gd name="connsiteY1" fmla="*/ 0 h 4176464"/>
                    <a:gd name="connsiteX2" fmla="*/ 720080 w 3056834"/>
                    <a:gd name="connsiteY2" fmla="*/ 1800200 h 4176464"/>
                    <a:gd name="connsiteX3" fmla="*/ 1512168 w 3056834"/>
                    <a:gd name="connsiteY3" fmla="*/ 3168352 h 4176464"/>
                    <a:gd name="connsiteX4" fmla="*/ 2160240 w 3056834"/>
                    <a:gd name="connsiteY4" fmla="*/ 3888432 h 4176464"/>
                    <a:gd name="connsiteX5" fmla="*/ 2664296 w 3056834"/>
                    <a:gd name="connsiteY5" fmla="*/ 4176464 h 4176464"/>
                    <a:gd name="connsiteX6" fmla="*/ 0 w 3056834"/>
                    <a:gd name="connsiteY6" fmla="*/ 4176464 h 4176464"/>
                    <a:gd name="connsiteX0" fmla="*/ 0 w 3056834"/>
                    <a:gd name="connsiteY0" fmla="*/ 4176464 h 4176464"/>
                    <a:gd name="connsiteX1" fmla="*/ 0 w 3056834"/>
                    <a:gd name="connsiteY1" fmla="*/ 0 h 4176464"/>
                    <a:gd name="connsiteX2" fmla="*/ 720080 w 3056834"/>
                    <a:gd name="connsiteY2" fmla="*/ 1800200 h 4176464"/>
                    <a:gd name="connsiteX3" fmla="*/ 936104 w 3056834"/>
                    <a:gd name="connsiteY3" fmla="*/ 2520280 h 4176464"/>
                    <a:gd name="connsiteX4" fmla="*/ 1512168 w 3056834"/>
                    <a:gd name="connsiteY4" fmla="*/ 3168352 h 4176464"/>
                    <a:gd name="connsiteX5" fmla="*/ 2160240 w 3056834"/>
                    <a:gd name="connsiteY5" fmla="*/ 3888432 h 4176464"/>
                    <a:gd name="connsiteX6" fmla="*/ 2664296 w 3056834"/>
                    <a:gd name="connsiteY6" fmla="*/ 4176464 h 4176464"/>
                    <a:gd name="connsiteX7" fmla="*/ 0 w 3056834"/>
                    <a:gd name="connsiteY7" fmla="*/ 4176464 h 4176464"/>
                    <a:gd name="connsiteX0" fmla="*/ 0 w 3056834"/>
                    <a:gd name="connsiteY0" fmla="*/ 4176464 h 4176464"/>
                    <a:gd name="connsiteX1" fmla="*/ 0 w 3056834"/>
                    <a:gd name="connsiteY1" fmla="*/ 0 h 4176464"/>
                    <a:gd name="connsiteX2" fmla="*/ 576064 w 3056834"/>
                    <a:gd name="connsiteY2" fmla="*/ 1872208 h 4176464"/>
                    <a:gd name="connsiteX3" fmla="*/ 936104 w 3056834"/>
                    <a:gd name="connsiteY3" fmla="*/ 2520280 h 4176464"/>
                    <a:gd name="connsiteX4" fmla="*/ 1512168 w 3056834"/>
                    <a:gd name="connsiteY4" fmla="*/ 3168352 h 4176464"/>
                    <a:gd name="connsiteX5" fmla="*/ 2160240 w 3056834"/>
                    <a:gd name="connsiteY5" fmla="*/ 3888432 h 4176464"/>
                    <a:gd name="connsiteX6" fmla="*/ 2664296 w 3056834"/>
                    <a:gd name="connsiteY6" fmla="*/ 4176464 h 4176464"/>
                    <a:gd name="connsiteX7" fmla="*/ 0 w 3056834"/>
                    <a:gd name="connsiteY7" fmla="*/ 4176464 h 4176464"/>
                    <a:gd name="connsiteX0" fmla="*/ 0 w 3056834"/>
                    <a:gd name="connsiteY0" fmla="*/ 4176464 h 4176464"/>
                    <a:gd name="connsiteX1" fmla="*/ 0 w 3056834"/>
                    <a:gd name="connsiteY1" fmla="*/ 0 h 4176464"/>
                    <a:gd name="connsiteX2" fmla="*/ 576064 w 3056834"/>
                    <a:gd name="connsiteY2" fmla="*/ 1872208 h 4176464"/>
                    <a:gd name="connsiteX3" fmla="*/ 936104 w 3056834"/>
                    <a:gd name="connsiteY3" fmla="*/ 2520280 h 4176464"/>
                    <a:gd name="connsiteX4" fmla="*/ 1080120 w 3056834"/>
                    <a:gd name="connsiteY4" fmla="*/ 3096344 h 4176464"/>
                    <a:gd name="connsiteX5" fmla="*/ 1512168 w 3056834"/>
                    <a:gd name="connsiteY5" fmla="*/ 3168352 h 4176464"/>
                    <a:gd name="connsiteX6" fmla="*/ 2160240 w 3056834"/>
                    <a:gd name="connsiteY6" fmla="*/ 3888432 h 4176464"/>
                    <a:gd name="connsiteX7" fmla="*/ 2664296 w 3056834"/>
                    <a:gd name="connsiteY7" fmla="*/ 4176464 h 4176464"/>
                    <a:gd name="connsiteX8" fmla="*/ 0 w 3056834"/>
                    <a:gd name="connsiteY8" fmla="*/ 4176464 h 4176464"/>
                    <a:gd name="connsiteX0" fmla="*/ 0 w 3056834"/>
                    <a:gd name="connsiteY0" fmla="*/ 4176464 h 4176464"/>
                    <a:gd name="connsiteX1" fmla="*/ 0 w 3056834"/>
                    <a:gd name="connsiteY1" fmla="*/ 0 h 4176464"/>
                    <a:gd name="connsiteX2" fmla="*/ 576064 w 3056834"/>
                    <a:gd name="connsiteY2" fmla="*/ 1872208 h 4176464"/>
                    <a:gd name="connsiteX3" fmla="*/ 936104 w 3056834"/>
                    <a:gd name="connsiteY3" fmla="*/ 2520280 h 4176464"/>
                    <a:gd name="connsiteX4" fmla="*/ 1080120 w 3056834"/>
                    <a:gd name="connsiteY4" fmla="*/ 3096344 h 4176464"/>
                    <a:gd name="connsiteX5" fmla="*/ 1440160 w 3056834"/>
                    <a:gd name="connsiteY5" fmla="*/ 3600400 h 4176464"/>
                    <a:gd name="connsiteX6" fmla="*/ 2160240 w 3056834"/>
                    <a:gd name="connsiteY6" fmla="*/ 3888432 h 4176464"/>
                    <a:gd name="connsiteX7" fmla="*/ 2664296 w 3056834"/>
                    <a:gd name="connsiteY7" fmla="*/ 4176464 h 4176464"/>
                    <a:gd name="connsiteX8" fmla="*/ 0 w 3056834"/>
                    <a:gd name="connsiteY8" fmla="*/ 4176464 h 4176464"/>
                    <a:gd name="connsiteX0" fmla="*/ 0 w 3056834"/>
                    <a:gd name="connsiteY0" fmla="*/ 4176464 h 4176464"/>
                    <a:gd name="connsiteX1" fmla="*/ 0 w 3056834"/>
                    <a:gd name="connsiteY1" fmla="*/ 0 h 4176464"/>
                    <a:gd name="connsiteX2" fmla="*/ 576064 w 3056834"/>
                    <a:gd name="connsiteY2" fmla="*/ 1872208 h 4176464"/>
                    <a:gd name="connsiteX3" fmla="*/ 936104 w 3056834"/>
                    <a:gd name="connsiteY3" fmla="*/ 2520280 h 4176464"/>
                    <a:gd name="connsiteX4" fmla="*/ 1080120 w 3056834"/>
                    <a:gd name="connsiteY4" fmla="*/ 3096344 h 4176464"/>
                    <a:gd name="connsiteX5" fmla="*/ 1440160 w 3056834"/>
                    <a:gd name="connsiteY5" fmla="*/ 3600400 h 4176464"/>
                    <a:gd name="connsiteX6" fmla="*/ 2160240 w 3056834"/>
                    <a:gd name="connsiteY6" fmla="*/ 4032448 h 4176464"/>
                    <a:gd name="connsiteX7" fmla="*/ 2664296 w 3056834"/>
                    <a:gd name="connsiteY7" fmla="*/ 4176464 h 4176464"/>
                    <a:gd name="connsiteX8" fmla="*/ 0 w 3056834"/>
                    <a:gd name="connsiteY8" fmla="*/ 4176464 h 4176464"/>
                    <a:gd name="connsiteX0" fmla="*/ 0 w 3056834"/>
                    <a:gd name="connsiteY0" fmla="*/ 4176464 h 4176464"/>
                    <a:gd name="connsiteX1" fmla="*/ 0 w 3056834"/>
                    <a:gd name="connsiteY1" fmla="*/ 0 h 4176464"/>
                    <a:gd name="connsiteX2" fmla="*/ 576064 w 3056834"/>
                    <a:gd name="connsiteY2" fmla="*/ 1872208 h 4176464"/>
                    <a:gd name="connsiteX3" fmla="*/ 792088 w 3056834"/>
                    <a:gd name="connsiteY3" fmla="*/ 2592288 h 4176464"/>
                    <a:gd name="connsiteX4" fmla="*/ 1080120 w 3056834"/>
                    <a:gd name="connsiteY4" fmla="*/ 3096344 h 4176464"/>
                    <a:gd name="connsiteX5" fmla="*/ 1440160 w 3056834"/>
                    <a:gd name="connsiteY5" fmla="*/ 3600400 h 4176464"/>
                    <a:gd name="connsiteX6" fmla="*/ 2160240 w 3056834"/>
                    <a:gd name="connsiteY6" fmla="*/ 4032448 h 4176464"/>
                    <a:gd name="connsiteX7" fmla="*/ 2664296 w 3056834"/>
                    <a:gd name="connsiteY7" fmla="*/ 4176464 h 4176464"/>
                    <a:gd name="connsiteX8" fmla="*/ 0 w 3056834"/>
                    <a:gd name="connsiteY8" fmla="*/ 4176464 h 4176464"/>
                    <a:gd name="connsiteX0" fmla="*/ 0 w 3056834"/>
                    <a:gd name="connsiteY0" fmla="*/ 4176464 h 4176464"/>
                    <a:gd name="connsiteX1" fmla="*/ 0 w 3056834"/>
                    <a:gd name="connsiteY1" fmla="*/ 0 h 4176464"/>
                    <a:gd name="connsiteX2" fmla="*/ 432048 w 3056834"/>
                    <a:gd name="connsiteY2" fmla="*/ 1944216 h 4176464"/>
                    <a:gd name="connsiteX3" fmla="*/ 792088 w 3056834"/>
                    <a:gd name="connsiteY3" fmla="*/ 2592288 h 4176464"/>
                    <a:gd name="connsiteX4" fmla="*/ 1080120 w 3056834"/>
                    <a:gd name="connsiteY4" fmla="*/ 3096344 h 4176464"/>
                    <a:gd name="connsiteX5" fmla="*/ 1440160 w 3056834"/>
                    <a:gd name="connsiteY5" fmla="*/ 3600400 h 4176464"/>
                    <a:gd name="connsiteX6" fmla="*/ 2160240 w 3056834"/>
                    <a:gd name="connsiteY6" fmla="*/ 4032448 h 4176464"/>
                    <a:gd name="connsiteX7" fmla="*/ 2664296 w 3056834"/>
                    <a:gd name="connsiteY7" fmla="*/ 4176464 h 4176464"/>
                    <a:gd name="connsiteX8" fmla="*/ 0 w 3056834"/>
                    <a:gd name="connsiteY8" fmla="*/ 4176464 h 4176464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432048 w 3056834"/>
                    <a:gd name="connsiteY3" fmla="*/ 2535499 h 4767747"/>
                    <a:gd name="connsiteX4" fmla="*/ 792088 w 3056834"/>
                    <a:gd name="connsiteY4" fmla="*/ 3183571 h 4767747"/>
                    <a:gd name="connsiteX5" fmla="*/ 1080120 w 3056834"/>
                    <a:gd name="connsiteY5" fmla="*/ 3687627 h 4767747"/>
                    <a:gd name="connsiteX6" fmla="*/ 1440160 w 3056834"/>
                    <a:gd name="connsiteY6" fmla="*/ 4191683 h 4767747"/>
                    <a:gd name="connsiteX7" fmla="*/ 2160240 w 3056834"/>
                    <a:gd name="connsiteY7" fmla="*/ 4623731 h 4767747"/>
                    <a:gd name="connsiteX8" fmla="*/ 2664296 w 3056834"/>
                    <a:gd name="connsiteY8" fmla="*/ 4767747 h 4767747"/>
                    <a:gd name="connsiteX9" fmla="*/ 0 w 3056834"/>
                    <a:gd name="connsiteY9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432048 w 3056834"/>
                    <a:gd name="connsiteY3" fmla="*/ 2535499 h 4767747"/>
                    <a:gd name="connsiteX4" fmla="*/ 720080 w 3056834"/>
                    <a:gd name="connsiteY4" fmla="*/ 3183572 h 4767747"/>
                    <a:gd name="connsiteX5" fmla="*/ 1080120 w 3056834"/>
                    <a:gd name="connsiteY5" fmla="*/ 3687627 h 4767747"/>
                    <a:gd name="connsiteX6" fmla="*/ 1440160 w 3056834"/>
                    <a:gd name="connsiteY6" fmla="*/ 4191683 h 4767747"/>
                    <a:gd name="connsiteX7" fmla="*/ 2160240 w 3056834"/>
                    <a:gd name="connsiteY7" fmla="*/ 4623731 h 4767747"/>
                    <a:gd name="connsiteX8" fmla="*/ 2664296 w 3056834"/>
                    <a:gd name="connsiteY8" fmla="*/ 4767747 h 4767747"/>
                    <a:gd name="connsiteX9" fmla="*/ 0 w 3056834"/>
                    <a:gd name="connsiteY9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432048 w 3056834"/>
                    <a:gd name="connsiteY3" fmla="*/ 2535499 h 4767747"/>
                    <a:gd name="connsiteX4" fmla="*/ 720080 w 3056834"/>
                    <a:gd name="connsiteY4" fmla="*/ 3183572 h 4767747"/>
                    <a:gd name="connsiteX5" fmla="*/ 1080120 w 3056834"/>
                    <a:gd name="connsiteY5" fmla="*/ 3759636 h 4767747"/>
                    <a:gd name="connsiteX6" fmla="*/ 1440160 w 3056834"/>
                    <a:gd name="connsiteY6" fmla="*/ 4191683 h 4767747"/>
                    <a:gd name="connsiteX7" fmla="*/ 2160240 w 3056834"/>
                    <a:gd name="connsiteY7" fmla="*/ 4623731 h 4767747"/>
                    <a:gd name="connsiteX8" fmla="*/ 2664296 w 3056834"/>
                    <a:gd name="connsiteY8" fmla="*/ 4767747 h 4767747"/>
                    <a:gd name="connsiteX9" fmla="*/ 0 w 3056834"/>
                    <a:gd name="connsiteY9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432048 w 3056834"/>
                    <a:gd name="connsiteY3" fmla="*/ 2535499 h 4767747"/>
                    <a:gd name="connsiteX4" fmla="*/ 720080 w 3056834"/>
                    <a:gd name="connsiteY4" fmla="*/ 3255580 h 4767747"/>
                    <a:gd name="connsiteX5" fmla="*/ 1080120 w 3056834"/>
                    <a:gd name="connsiteY5" fmla="*/ 3759636 h 4767747"/>
                    <a:gd name="connsiteX6" fmla="*/ 1440160 w 3056834"/>
                    <a:gd name="connsiteY6" fmla="*/ 4191683 h 4767747"/>
                    <a:gd name="connsiteX7" fmla="*/ 2160240 w 3056834"/>
                    <a:gd name="connsiteY7" fmla="*/ 4623731 h 4767747"/>
                    <a:gd name="connsiteX8" fmla="*/ 2664296 w 3056834"/>
                    <a:gd name="connsiteY8" fmla="*/ 4767747 h 4767747"/>
                    <a:gd name="connsiteX9" fmla="*/ 0 w 3056834"/>
                    <a:gd name="connsiteY9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432048 w 3056834"/>
                    <a:gd name="connsiteY3" fmla="*/ 2535499 h 4767747"/>
                    <a:gd name="connsiteX4" fmla="*/ 720080 w 3056834"/>
                    <a:gd name="connsiteY4" fmla="*/ 3255580 h 4767747"/>
                    <a:gd name="connsiteX5" fmla="*/ 1080120 w 3056834"/>
                    <a:gd name="connsiteY5" fmla="*/ 3759636 h 4767747"/>
                    <a:gd name="connsiteX6" fmla="*/ 1440160 w 3056834"/>
                    <a:gd name="connsiteY6" fmla="*/ 4191683 h 4767747"/>
                    <a:gd name="connsiteX7" fmla="*/ 2160240 w 3056834"/>
                    <a:gd name="connsiteY7" fmla="*/ 4623731 h 4767747"/>
                    <a:gd name="connsiteX8" fmla="*/ 2664296 w 3056834"/>
                    <a:gd name="connsiteY8" fmla="*/ 4767747 h 4767747"/>
                    <a:gd name="connsiteX9" fmla="*/ 0 w 3056834"/>
                    <a:gd name="connsiteY9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216024 w 3056834"/>
                    <a:gd name="connsiteY3" fmla="*/ 2031444 h 4767747"/>
                    <a:gd name="connsiteX4" fmla="*/ 432048 w 3056834"/>
                    <a:gd name="connsiteY4" fmla="*/ 2535499 h 4767747"/>
                    <a:gd name="connsiteX5" fmla="*/ 720080 w 3056834"/>
                    <a:gd name="connsiteY5" fmla="*/ 3255580 h 4767747"/>
                    <a:gd name="connsiteX6" fmla="*/ 1080120 w 3056834"/>
                    <a:gd name="connsiteY6" fmla="*/ 3759636 h 4767747"/>
                    <a:gd name="connsiteX7" fmla="*/ 1440160 w 3056834"/>
                    <a:gd name="connsiteY7" fmla="*/ 4191683 h 4767747"/>
                    <a:gd name="connsiteX8" fmla="*/ 2160240 w 3056834"/>
                    <a:gd name="connsiteY8" fmla="*/ 4623731 h 4767747"/>
                    <a:gd name="connsiteX9" fmla="*/ 2664296 w 3056834"/>
                    <a:gd name="connsiteY9" fmla="*/ 4767747 h 4767747"/>
                    <a:gd name="connsiteX10" fmla="*/ 0 w 3056834"/>
                    <a:gd name="connsiteY10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216024 w 3056834"/>
                    <a:gd name="connsiteY3" fmla="*/ 2031444 h 4767747"/>
                    <a:gd name="connsiteX4" fmla="*/ 432048 w 3056834"/>
                    <a:gd name="connsiteY4" fmla="*/ 2679516 h 4767747"/>
                    <a:gd name="connsiteX5" fmla="*/ 720080 w 3056834"/>
                    <a:gd name="connsiteY5" fmla="*/ 3255580 h 4767747"/>
                    <a:gd name="connsiteX6" fmla="*/ 1080120 w 3056834"/>
                    <a:gd name="connsiteY6" fmla="*/ 3759636 h 4767747"/>
                    <a:gd name="connsiteX7" fmla="*/ 1440160 w 3056834"/>
                    <a:gd name="connsiteY7" fmla="*/ 4191683 h 4767747"/>
                    <a:gd name="connsiteX8" fmla="*/ 2160240 w 3056834"/>
                    <a:gd name="connsiteY8" fmla="*/ 4623731 h 4767747"/>
                    <a:gd name="connsiteX9" fmla="*/ 2664296 w 3056834"/>
                    <a:gd name="connsiteY9" fmla="*/ 4767747 h 4767747"/>
                    <a:gd name="connsiteX10" fmla="*/ 0 w 3056834"/>
                    <a:gd name="connsiteY10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216024 w 3056834"/>
                    <a:gd name="connsiteY3" fmla="*/ 2031444 h 4767747"/>
                    <a:gd name="connsiteX4" fmla="*/ 432048 w 3056834"/>
                    <a:gd name="connsiteY4" fmla="*/ 2679516 h 4767747"/>
                    <a:gd name="connsiteX5" fmla="*/ 720080 w 3056834"/>
                    <a:gd name="connsiteY5" fmla="*/ 3255580 h 4767747"/>
                    <a:gd name="connsiteX6" fmla="*/ 1080120 w 3056834"/>
                    <a:gd name="connsiteY6" fmla="*/ 3759636 h 4767747"/>
                    <a:gd name="connsiteX7" fmla="*/ 1440160 w 3056834"/>
                    <a:gd name="connsiteY7" fmla="*/ 4191683 h 4767747"/>
                    <a:gd name="connsiteX8" fmla="*/ 2160240 w 3056834"/>
                    <a:gd name="connsiteY8" fmla="*/ 4623731 h 4767747"/>
                    <a:gd name="connsiteX9" fmla="*/ 2664296 w 3056834"/>
                    <a:gd name="connsiteY9" fmla="*/ 4767747 h 4767747"/>
                    <a:gd name="connsiteX10" fmla="*/ 0 w 3056834"/>
                    <a:gd name="connsiteY10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216024 w 3056834"/>
                    <a:gd name="connsiteY3" fmla="*/ 2031444 h 4767747"/>
                    <a:gd name="connsiteX4" fmla="*/ 432048 w 3056834"/>
                    <a:gd name="connsiteY4" fmla="*/ 2679516 h 4767747"/>
                    <a:gd name="connsiteX5" fmla="*/ 720080 w 3056834"/>
                    <a:gd name="connsiteY5" fmla="*/ 3255580 h 4767747"/>
                    <a:gd name="connsiteX6" fmla="*/ 1080120 w 3056834"/>
                    <a:gd name="connsiteY6" fmla="*/ 3759636 h 4767747"/>
                    <a:gd name="connsiteX7" fmla="*/ 1440160 w 3056834"/>
                    <a:gd name="connsiteY7" fmla="*/ 4191684 h 4767747"/>
                    <a:gd name="connsiteX8" fmla="*/ 2160240 w 3056834"/>
                    <a:gd name="connsiteY8" fmla="*/ 4623731 h 4767747"/>
                    <a:gd name="connsiteX9" fmla="*/ 2664296 w 3056834"/>
                    <a:gd name="connsiteY9" fmla="*/ 4767747 h 4767747"/>
                    <a:gd name="connsiteX10" fmla="*/ 0 w 3056834"/>
                    <a:gd name="connsiteY10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216024 w 3056834"/>
                    <a:gd name="connsiteY3" fmla="*/ 2031444 h 4767747"/>
                    <a:gd name="connsiteX4" fmla="*/ 432048 w 3056834"/>
                    <a:gd name="connsiteY4" fmla="*/ 2679516 h 4767747"/>
                    <a:gd name="connsiteX5" fmla="*/ 720080 w 3056834"/>
                    <a:gd name="connsiteY5" fmla="*/ 3255580 h 4767747"/>
                    <a:gd name="connsiteX6" fmla="*/ 1008112 w 3056834"/>
                    <a:gd name="connsiteY6" fmla="*/ 3687628 h 4767747"/>
                    <a:gd name="connsiteX7" fmla="*/ 1440160 w 3056834"/>
                    <a:gd name="connsiteY7" fmla="*/ 4191684 h 4767747"/>
                    <a:gd name="connsiteX8" fmla="*/ 2160240 w 3056834"/>
                    <a:gd name="connsiteY8" fmla="*/ 4623731 h 4767747"/>
                    <a:gd name="connsiteX9" fmla="*/ 2664296 w 3056834"/>
                    <a:gd name="connsiteY9" fmla="*/ 4767747 h 4767747"/>
                    <a:gd name="connsiteX10" fmla="*/ 0 w 3056834"/>
                    <a:gd name="connsiteY10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216024 w 3056834"/>
                    <a:gd name="connsiteY3" fmla="*/ 2031444 h 4767747"/>
                    <a:gd name="connsiteX4" fmla="*/ 432048 w 3056834"/>
                    <a:gd name="connsiteY4" fmla="*/ 2679516 h 4767747"/>
                    <a:gd name="connsiteX5" fmla="*/ 720080 w 3056834"/>
                    <a:gd name="connsiteY5" fmla="*/ 3255580 h 4767747"/>
                    <a:gd name="connsiteX6" fmla="*/ 1008112 w 3056834"/>
                    <a:gd name="connsiteY6" fmla="*/ 3759636 h 4767747"/>
                    <a:gd name="connsiteX7" fmla="*/ 1440160 w 3056834"/>
                    <a:gd name="connsiteY7" fmla="*/ 4191684 h 4767747"/>
                    <a:gd name="connsiteX8" fmla="*/ 2160240 w 3056834"/>
                    <a:gd name="connsiteY8" fmla="*/ 4623731 h 4767747"/>
                    <a:gd name="connsiteX9" fmla="*/ 2664296 w 3056834"/>
                    <a:gd name="connsiteY9" fmla="*/ 4767747 h 4767747"/>
                    <a:gd name="connsiteX10" fmla="*/ 0 w 3056834"/>
                    <a:gd name="connsiteY10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216024 w 3056834"/>
                    <a:gd name="connsiteY3" fmla="*/ 2031444 h 4767747"/>
                    <a:gd name="connsiteX4" fmla="*/ 432048 w 3056834"/>
                    <a:gd name="connsiteY4" fmla="*/ 2679516 h 4767747"/>
                    <a:gd name="connsiteX5" fmla="*/ 720080 w 3056834"/>
                    <a:gd name="connsiteY5" fmla="*/ 3255580 h 4767747"/>
                    <a:gd name="connsiteX6" fmla="*/ 1008112 w 3056834"/>
                    <a:gd name="connsiteY6" fmla="*/ 3759636 h 4767747"/>
                    <a:gd name="connsiteX7" fmla="*/ 1440160 w 3056834"/>
                    <a:gd name="connsiteY7" fmla="*/ 4191684 h 4767747"/>
                    <a:gd name="connsiteX8" fmla="*/ 2160240 w 3056834"/>
                    <a:gd name="connsiteY8" fmla="*/ 4623731 h 4767747"/>
                    <a:gd name="connsiteX9" fmla="*/ 2664296 w 3056834"/>
                    <a:gd name="connsiteY9" fmla="*/ 4767747 h 4767747"/>
                    <a:gd name="connsiteX10" fmla="*/ 0 w 3056834"/>
                    <a:gd name="connsiteY10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216024 w 3056834"/>
                    <a:gd name="connsiteY3" fmla="*/ 2031444 h 4767747"/>
                    <a:gd name="connsiteX4" fmla="*/ 432048 w 3056834"/>
                    <a:gd name="connsiteY4" fmla="*/ 2679516 h 4767747"/>
                    <a:gd name="connsiteX5" fmla="*/ 720080 w 3056834"/>
                    <a:gd name="connsiteY5" fmla="*/ 3255580 h 4767747"/>
                    <a:gd name="connsiteX6" fmla="*/ 1008112 w 3056834"/>
                    <a:gd name="connsiteY6" fmla="*/ 3759636 h 4767747"/>
                    <a:gd name="connsiteX7" fmla="*/ 1224136 w 3056834"/>
                    <a:gd name="connsiteY7" fmla="*/ 4047668 h 4767747"/>
                    <a:gd name="connsiteX8" fmla="*/ 1440160 w 3056834"/>
                    <a:gd name="connsiteY8" fmla="*/ 4191684 h 4767747"/>
                    <a:gd name="connsiteX9" fmla="*/ 2160240 w 3056834"/>
                    <a:gd name="connsiteY9" fmla="*/ 4623731 h 4767747"/>
                    <a:gd name="connsiteX10" fmla="*/ 2664296 w 3056834"/>
                    <a:gd name="connsiteY10" fmla="*/ 4767747 h 4767747"/>
                    <a:gd name="connsiteX11" fmla="*/ 0 w 3056834"/>
                    <a:gd name="connsiteY11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216024 w 3056834"/>
                    <a:gd name="connsiteY3" fmla="*/ 2031444 h 4767747"/>
                    <a:gd name="connsiteX4" fmla="*/ 432048 w 3056834"/>
                    <a:gd name="connsiteY4" fmla="*/ 2679516 h 4767747"/>
                    <a:gd name="connsiteX5" fmla="*/ 720080 w 3056834"/>
                    <a:gd name="connsiteY5" fmla="*/ 3255580 h 4767747"/>
                    <a:gd name="connsiteX6" fmla="*/ 1008112 w 3056834"/>
                    <a:gd name="connsiteY6" fmla="*/ 3759636 h 4767747"/>
                    <a:gd name="connsiteX7" fmla="*/ 1224136 w 3056834"/>
                    <a:gd name="connsiteY7" fmla="*/ 4047668 h 4767747"/>
                    <a:gd name="connsiteX8" fmla="*/ 1512168 w 3056834"/>
                    <a:gd name="connsiteY8" fmla="*/ 4263692 h 4767747"/>
                    <a:gd name="connsiteX9" fmla="*/ 2160240 w 3056834"/>
                    <a:gd name="connsiteY9" fmla="*/ 4623731 h 4767747"/>
                    <a:gd name="connsiteX10" fmla="*/ 2664296 w 3056834"/>
                    <a:gd name="connsiteY10" fmla="*/ 4767747 h 4767747"/>
                    <a:gd name="connsiteX11" fmla="*/ 0 w 3056834"/>
                    <a:gd name="connsiteY11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216024 w 3056834"/>
                    <a:gd name="connsiteY3" fmla="*/ 2031444 h 4767747"/>
                    <a:gd name="connsiteX4" fmla="*/ 432048 w 3056834"/>
                    <a:gd name="connsiteY4" fmla="*/ 2679516 h 4767747"/>
                    <a:gd name="connsiteX5" fmla="*/ 720080 w 3056834"/>
                    <a:gd name="connsiteY5" fmla="*/ 3255580 h 4767747"/>
                    <a:gd name="connsiteX6" fmla="*/ 1008112 w 3056834"/>
                    <a:gd name="connsiteY6" fmla="*/ 3759636 h 4767747"/>
                    <a:gd name="connsiteX7" fmla="*/ 1224136 w 3056834"/>
                    <a:gd name="connsiteY7" fmla="*/ 4047668 h 4767747"/>
                    <a:gd name="connsiteX8" fmla="*/ 1512168 w 3056834"/>
                    <a:gd name="connsiteY8" fmla="*/ 4335700 h 4767747"/>
                    <a:gd name="connsiteX9" fmla="*/ 2160240 w 3056834"/>
                    <a:gd name="connsiteY9" fmla="*/ 4623731 h 4767747"/>
                    <a:gd name="connsiteX10" fmla="*/ 2664296 w 3056834"/>
                    <a:gd name="connsiteY10" fmla="*/ 4767747 h 4767747"/>
                    <a:gd name="connsiteX11" fmla="*/ 0 w 3056834"/>
                    <a:gd name="connsiteY11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216024 w 3056834"/>
                    <a:gd name="connsiteY3" fmla="*/ 2031444 h 4767747"/>
                    <a:gd name="connsiteX4" fmla="*/ 432048 w 3056834"/>
                    <a:gd name="connsiteY4" fmla="*/ 2679516 h 4767747"/>
                    <a:gd name="connsiteX5" fmla="*/ 720080 w 3056834"/>
                    <a:gd name="connsiteY5" fmla="*/ 3255580 h 4767747"/>
                    <a:gd name="connsiteX6" fmla="*/ 1008112 w 3056834"/>
                    <a:gd name="connsiteY6" fmla="*/ 3759636 h 4767747"/>
                    <a:gd name="connsiteX7" fmla="*/ 1224136 w 3056834"/>
                    <a:gd name="connsiteY7" fmla="*/ 4047668 h 4767747"/>
                    <a:gd name="connsiteX8" fmla="*/ 1512168 w 3056834"/>
                    <a:gd name="connsiteY8" fmla="*/ 4335700 h 4767747"/>
                    <a:gd name="connsiteX9" fmla="*/ 1800200 w 3056834"/>
                    <a:gd name="connsiteY9" fmla="*/ 4551724 h 4767747"/>
                    <a:gd name="connsiteX10" fmla="*/ 2160240 w 3056834"/>
                    <a:gd name="connsiteY10" fmla="*/ 4623731 h 4767747"/>
                    <a:gd name="connsiteX11" fmla="*/ 2664296 w 3056834"/>
                    <a:gd name="connsiteY11" fmla="*/ 4767747 h 4767747"/>
                    <a:gd name="connsiteX12" fmla="*/ 0 w 3056834"/>
                    <a:gd name="connsiteY12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216024 w 3056834"/>
                    <a:gd name="connsiteY3" fmla="*/ 2031444 h 4767747"/>
                    <a:gd name="connsiteX4" fmla="*/ 432048 w 3056834"/>
                    <a:gd name="connsiteY4" fmla="*/ 2679516 h 4767747"/>
                    <a:gd name="connsiteX5" fmla="*/ 720080 w 3056834"/>
                    <a:gd name="connsiteY5" fmla="*/ 3255580 h 4767747"/>
                    <a:gd name="connsiteX6" fmla="*/ 1008112 w 3056834"/>
                    <a:gd name="connsiteY6" fmla="*/ 3759636 h 4767747"/>
                    <a:gd name="connsiteX7" fmla="*/ 1224136 w 3056834"/>
                    <a:gd name="connsiteY7" fmla="*/ 4047668 h 4767747"/>
                    <a:gd name="connsiteX8" fmla="*/ 1512168 w 3056834"/>
                    <a:gd name="connsiteY8" fmla="*/ 4335700 h 4767747"/>
                    <a:gd name="connsiteX9" fmla="*/ 1800200 w 3056834"/>
                    <a:gd name="connsiteY9" fmla="*/ 4479716 h 4767747"/>
                    <a:gd name="connsiteX10" fmla="*/ 2160240 w 3056834"/>
                    <a:gd name="connsiteY10" fmla="*/ 4623731 h 4767747"/>
                    <a:gd name="connsiteX11" fmla="*/ 2664296 w 3056834"/>
                    <a:gd name="connsiteY11" fmla="*/ 4767747 h 4767747"/>
                    <a:gd name="connsiteX12" fmla="*/ 0 w 3056834"/>
                    <a:gd name="connsiteY12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216024 w 3056834"/>
                    <a:gd name="connsiteY3" fmla="*/ 2031444 h 4767747"/>
                    <a:gd name="connsiteX4" fmla="*/ 432048 w 3056834"/>
                    <a:gd name="connsiteY4" fmla="*/ 2679516 h 4767747"/>
                    <a:gd name="connsiteX5" fmla="*/ 720080 w 3056834"/>
                    <a:gd name="connsiteY5" fmla="*/ 3255580 h 4767747"/>
                    <a:gd name="connsiteX6" fmla="*/ 1008112 w 3056834"/>
                    <a:gd name="connsiteY6" fmla="*/ 3759636 h 4767747"/>
                    <a:gd name="connsiteX7" fmla="*/ 1224136 w 3056834"/>
                    <a:gd name="connsiteY7" fmla="*/ 4047668 h 4767747"/>
                    <a:gd name="connsiteX8" fmla="*/ 1584176 w 3056834"/>
                    <a:gd name="connsiteY8" fmla="*/ 4335700 h 4767747"/>
                    <a:gd name="connsiteX9" fmla="*/ 1800200 w 3056834"/>
                    <a:gd name="connsiteY9" fmla="*/ 4479716 h 4767747"/>
                    <a:gd name="connsiteX10" fmla="*/ 2160240 w 3056834"/>
                    <a:gd name="connsiteY10" fmla="*/ 4623731 h 4767747"/>
                    <a:gd name="connsiteX11" fmla="*/ 2664296 w 3056834"/>
                    <a:gd name="connsiteY11" fmla="*/ 4767747 h 4767747"/>
                    <a:gd name="connsiteX12" fmla="*/ 0 w 3056834"/>
                    <a:gd name="connsiteY12" fmla="*/ 4767747 h 4767747"/>
                    <a:gd name="connsiteX0" fmla="*/ 0 w 3056834"/>
                    <a:gd name="connsiteY0" fmla="*/ 4767747 h 4767747"/>
                    <a:gd name="connsiteX1" fmla="*/ 0 w 3056834"/>
                    <a:gd name="connsiteY1" fmla="*/ 591283 h 4767747"/>
                    <a:gd name="connsiteX2" fmla="*/ 72008 w 3056834"/>
                    <a:gd name="connsiteY2" fmla="*/ 1239355 h 4767747"/>
                    <a:gd name="connsiteX3" fmla="*/ 216024 w 3056834"/>
                    <a:gd name="connsiteY3" fmla="*/ 2031444 h 4767747"/>
                    <a:gd name="connsiteX4" fmla="*/ 432048 w 3056834"/>
                    <a:gd name="connsiteY4" fmla="*/ 2679516 h 4767747"/>
                    <a:gd name="connsiteX5" fmla="*/ 720080 w 3056834"/>
                    <a:gd name="connsiteY5" fmla="*/ 3255580 h 4767747"/>
                    <a:gd name="connsiteX6" fmla="*/ 1008112 w 3056834"/>
                    <a:gd name="connsiteY6" fmla="*/ 3759636 h 4767747"/>
                    <a:gd name="connsiteX7" fmla="*/ 1224136 w 3056834"/>
                    <a:gd name="connsiteY7" fmla="*/ 4047668 h 4767747"/>
                    <a:gd name="connsiteX8" fmla="*/ 1584176 w 3056834"/>
                    <a:gd name="connsiteY8" fmla="*/ 4335700 h 4767747"/>
                    <a:gd name="connsiteX9" fmla="*/ 1800200 w 3056834"/>
                    <a:gd name="connsiteY9" fmla="*/ 4479716 h 4767747"/>
                    <a:gd name="connsiteX10" fmla="*/ 2160240 w 3056834"/>
                    <a:gd name="connsiteY10" fmla="*/ 4623731 h 4767747"/>
                    <a:gd name="connsiteX11" fmla="*/ 2664296 w 3056834"/>
                    <a:gd name="connsiteY11" fmla="*/ 4767747 h 4767747"/>
                    <a:gd name="connsiteX12" fmla="*/ 0 w 3056834"/>
                    <a:gd name="connsiteY12" fmla="*/ 4767747 h 47677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056834" h="4767747">
                      <a:moveTo>
                        <a:pt x="0" y="4767747"/>
                      </a:moveTo>
                      <a:lnTo>
                        <a:pt x="0" y="591283"/>
                      </a:lnTo>
                      <a:cubicBezTo>
                        <a:pt x="26670" y="0"/>
                        <a:pt x="0" y="915319"/>
                        <a:pt x="72008" y="1239355"/>
                      </a:cubicBezTo>
                      <a:cubicBezTo>
                        <a:pt x="123036" y="1584809"/>
                        <a:pt x="156017" y="1791417"/>
                        <a:pt x="216024" y="2031444"/>
                      </a:cubicBezTo>
                      <a:cubicBezTo>
                        <a:pt x="276031" y="2271471"/>
                        <a:pt x="359582" y="2465521"/>
                        <a:pt x="432048" y="2679516"/>
                      </a:cubicBezTo>
                      <a:cubicBezTo>
                        <a:pt x="607468" y="3082847"/>
                        <a:pt x="624011" y="3061377"/>
                        <a:pt x="720080" y="3255580"/>
                      </a:cubicBezTo>
                      <a:cubicBezTo>
                        <a:pt x="828717" y="3413682"/>
                        <a:pt x="888099" y="3603619"/>
                        <a:pt x="1008112" y="3759636"/>
                      </a:cubicBezTo>
                      <a:cubicBezTo>
                        <a:pt x="1096397" y="3885932"/>
                        <a:pt x="1128125" y="3951657"/>
                        <a:pt x="1224136" y="4047668"/>
                      </a:cubicBezTo>
                      <a:cubicBezTo>
                        <a:pt x="1320147" y="4143679"/>
                        <a:pt x="1488165" y="4263692"/>
                        <a:pt x="1584176" y="4335700"/>
                      </a:cubicBezTo>
                      <a:cubicBezTo>
                        <a:pt x="1680187" y="4407708"/>
                        <a:pt x="1704189" y="4431711"/>
                        <a:pt x="1800200" y="4479716"/>
                      </a:cubicBezTo>
                      <a:cubicBezTo>
                        <a:pt x="1896211" y="4527721"/>
                        <a:pt x="2016224" y="4575726"/>
                        <a:pt x="2160240" y="4623731"/>
                      </a:cubicBezTo>
                      <a:cubicBezTo>
                        <a:pt x="2304256" y="4671736"/>
                        <a:pt x="3056834" y="4696294"/>
                        <a:pt x="2664296" y="4767747"/>
                      </a:cubicBezTo>
                      <a:lnTo>
                        <a:pt x="0" y="476774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FF">
                        <a:tint val="66000"/>
                        <a:satMod val="160000"/>
                      </a:srgbClr>
                    </a:gs>
                    <a:gs pos="50000">
                      <a:srgbClr val="0000FF">
                        <a:tint val="44500"/>
                        <a:satMod val="160000"/>
                      </a:srgbClr>
                    </a:gs>
                    <a:gs pos="100000">
                      <a:srgbClr val="0000FF">
                        <a:tint val="23500"/>
                        <a:satMod val="160000"/>
                      </a:srgbClr>
                    </a:gs>
                  </a:gsLst>
                  <a:lin ang="108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600"/>
                </a:p>
              </p:txBody>
            </p:sp>
            <p:pic>
              <p:nvPicPr>
                <p:cNvPr id="18" name="Picture 12" descr="Scalable_HiThuPut_SPR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lum bright="7000" contrast="36000"/>
                </a:blip>
                <a:srcRect/>
                <a:stretch>
                  <a:fillRect/>
                </a:stretch>
              </p:blipFill>
              <p:spPr bwMode="auto">
                <a:xfrm>
                  <a:off x="1266775" y="2590493"/>
                  <a:ext cx="2616947" cy="17921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9" name="组合 8"/>
              <p:cNvGrpSpPr/>
              <p:nvPr/>
            </p:nvGrpSpPr>
            <p:grpSpPr>
              <a:xfrm>
                <a:off x="2753537" y="2288168"/>
                <a:ext cx="3211090" cy="2403035"/>
                <a:chOff x="4272746" y="1979618"/>
                <a:chExt cx="3211090" cy="2403035"/>
              </a:xfrm>
            </p:grpSpPr>
            <p:pic>
              <p:nvPicPr>
                <p:cNvPr id="14" name="SPR原理.jpg" descr="C:\Users\caesar\Desktop\SPR原理.jpg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72746" y="2020357"/>
                  <a:ext cx="3211090" cy="2362296"/>
                </a:xfrm>
                <a:prstGeom prst="rect">
                  <a:avLst/>
                </a:prstGeom>
                <a:ln w="12700">
                  <a:miter lim="400000"/>
                </a:ln>
              </p:spPr>
            </p:pic>
            <p:sp>
              <p:nvSpPr>
                <p:cNvPr id="15" name="矩形 14"/>
                <p:cNvSpPr/>
                <p:nvPr/>
              </p:nvSpPr>
              <p:spPr>
                <a:xfrm>
                  <a:off x="4397963" y="1979618"/>
                  <a:ext cx="3025021" cy="228166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600"/>
                </a:p>
              </p:txBody>
            </p:sp>
          </p:grpSp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05805" y="2288168"/>
                <a:ext cx="2733692" cy="22816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1" name="图片 10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harpenSoften amount="25000"/>
                        </a14:imgEffect>
                      </a14:imgLayer>
                    </a14:imgProps>
                  </a:ext>
                </a:extLst>
              </a:blip>
              <a:srcRect t="5114" r="2126" b="1945"/>
              <a:stretch/>
            </p:blipFill>
            <p:spPr>
              <a:xfrm>
                <a:off x="3035747" y="2288168"/>
                <a:ext cx="2723734" cy="22816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2" name="文本框 11"/>
              <p:cNvSpPr txBox="1"/>
              <p:nvPr/>
            </p:nvSpPr>
            <p:spPr>
              <a:xfrm>
                <a:off x="7209511" y="1747105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平行光路</a:t>
                </a: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3824134" y="1747105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锥形光路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B1FFE48-086E-4030-93F1-DBDDB8738EEE}"/>
                </a:ext>
              </a:extLst>
            </p:cNvPr>
            <p:cNvSpPr txBox="1"/>
            <p:nvPr/>
          </p:nvSpPr>
          <p:spPr>
            <a:xfrm>
              <a:off x="5969315" y="1377164"/>
              <a:ext cx="37007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b="1" dirty="0">
                  <a:latin typeface="微软雅黑" pitchFamily="34" charset="-122"/>
                  <a:ea typeface="微软雅黑" pitchFamily="34" charset="-122"/>
                  <a:sym typeface="华文楷体" pitchFamily="2" charset="-122"/>
                </a:rPr>
                <a:t>第二代 SPR 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  <a:sym typeface="华文楷体" pitchFamily="2" charset="-122"/>
                </a:rPr>
                <a:t>(SPR image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  <a:sym typeface="华文楷体" pitchFamily="2" charset="-122"/>
                </a:rPr>
                <a:t>，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  <a:sym typeface="华文楷体" pitchFamily="2" charset="-122"/>
                </a:rPr>
                <a:t>SPRi)</a:t>
              </a:r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C9C30DB-588A-D7D2-6344-D02652DC0624}"/>
                </a:ext>
              </a:extLst>
            </p:cNvPr>
            <p:cNvSpPr txBox="1"/>
            <p:nvPr/>
          </p:nvSpPr>
          <p:spPr>
            <a:xfrm>
              <a:off x="2800558" y="1377164"/>
              <a:ext cx="32110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b="1" dirty="0">
                  <a:latin typeface="微软雅黑" pitchFamily="34" charset="-122"/>
                  <a:ea typeface="微软雅黑" pitchFamily="34" charset="-122"/>
                  <a:sym typeface="华文楷体" pitchFamily="2" charset="-122"/>
                </a:rPr>
                <a:t>第一代 SPR</a:t>
              </a:r>
              <a:endParaRPr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FE123BA-EAD8-6035-3DAB-2E54B831D9DA}"/>
                </a:ext>
              </a:extLst>
            </p:cNvPr>
            <p:cNvSpPr txBox="1"/>
            <p:nvPr/>
          </p:nvSpPr>
          <p:spPr>
            <a:xfrm>
              <a:off x="6459001" y="4810730"/>
              <a:ext cx="321109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  <a:sym typeface="华文楷体" pitchFamily="2" charset="-122"/>
                </a:rPr>
                <a:t>代表设备：</a:t>
              </a:r>
              <a:endParaRPr lang="en-US" altLang="zh-CN" sz="1600" b="1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  <a:sym typeface="华文楷体" pitchFamily="2" charset="-122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b="1" dirty="0"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Berthold bScreen LB 991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b="1" dirty="0"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  <a:sym typeface="华文楷体" pitchFamily="2" charset="-122"/>
                </a:rPr>
                <a:t>Plexera PlexArray H1000</a:t>
              </a:r>
            </a:p>
            <a:p>
              <a:endParaRPr lang="zh-CN" altLang="en-US" sz="1600" b="1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521657E-CE88-C50F-518A-397BDFD482CF}"/>
                </a:ext>
              </a:extLst>
            </p:cNvPr>
            <p:cNvSpPr txBox="1"/>
            <p:nvPr/>
          </p:nvSpPr>
          <p:spPr>
            <a:xfrm>
              <a:off x="3017238" y="4810730"/>
              <a:ext cx="321109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  <a:sym typeface="华文楷体" pitchFamily="2" charset="-122"/>
                </a:rPr>
                <a:t>代表设备：</a:t>
              </a:r>
              <a:endParaRPr lang="en-US" altLang="zh-CN" sz="1600" b="1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  <a:sym typeface="华文楷体" pitchFamily="2" charset="-122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b="1" dirty="0"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  <a:sym typeface="华文楷体" pitchFamily="2" charset="-122"/>
                </a:rPr>
                <a:t>GE Biacore T200/1K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  <a:sym typeface="华文楷体" pitchFamily="2" charset="-122"/>
                </a:rPr>
                <a:t>赛多利斯 </a:t>
              </a:r>
              <a:r>
                <a:rPr lang="en-US" altLang="zh-CN" sz="1600" b="1" dirty="0"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  <a:sym typeface="华文楷体" pitchFamily="2" charset="-122"/>
                </a:rPr>
                <a:t>Octet SF3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标题 1">
            <a:extLst>
              <a:ext uri="{FF2B5EF4-FFF2-40B4-BE49-F238E27FC236}">
                <a16:creationId xmlns:a16="http://schemas.microsoft.com/office/drawing/2014/main" id="{2789AC24-371A-97D1-0C4B-38CDD881E3D8}"/>
              </a:ext>
            </a:extLst>
          </p:cNvPr>
          <p:cNvSpPr txBox="1">
            <a:spLocks/>
          </p:cNvSpPr>
          <p:nvPr/>
        </p:nvSpPr>
        <p:spPr>
          <a:xfrm>
            <a:off x="838200" y="454772"/>
            <a:ext cx="10515600" cy="5524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latin typeface="微软雅黑" pitchFamily="34" charset="-122"/>
                <a:ea typeface="微软雅黑" pitchFamily="34" charset="-122"/>
                <a:sym typeface="华文楷体" pitchFamily="2" charset="-122"/>
              </a:rPr>
              <a:t>技术基础： 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SPR 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技 术 迭 代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948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CB2030"/>
      </a:accent1>
      <a:accent2>
        <a:srgbClr val="D97422"/>
      </a:accent2>
      <a:accent3>
        <a:srgbClr val="F7A51C"/>
      </a:accent3>
      <a:accent4>
        <a:srgbClr val="7CC146"/>
      </a:accent4>
      <a:accent5>
        <a:srgbClr val="18A19D"/>
      </a:accent5>
      <a:accent6>
        <a:srgbClr val="44484C"/>
      </a:accent6>
      <a:hlink>
        <a:srgbClr val="0077B5"/>
      </a:hlink>
      <a:folHlink>
        <a:srgbClr val="BFBFBF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3456</TotalTime>
  <Words>1230</Words>
  <Application>Microsoft Office PowerPoint</Application>
  <PresentationFormat>宽屏</PresentationFormat>
  <Paragraphs>386</Paragraphs>
  <Slides>24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等线</vt:lpstr>
      <vt:lpstr>等线 Light</vt:lpstr>
      <vt:lpstr>华文楷体</vt:lpstr>
      <vt:lpstr>微软雅黑</vt:lpstr>
      <vt:lpstr>Arial</vt:lpstr>
      <vt:lpstr>Tahoma</vt:lpstr>
      <vt:lpstr>Times New Roman</vt:lpstr>
      <vt:lpstr>Office 主题​​</vt:lpstr>
      <vt:lpstr>报告内容（功能注释 部分）</vt:lpstr>
      <vt:lpstr>报告内容（原始数据 部分）</vt:lpstr>
      <vt:lpstr>质控手段</vt:lpstr>
      <vt:lpstr>靶标捕获技术 与前代技术的对比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研究流程总结</vt:lpstr>
      <vt:lpstr>研 究 方 向</vt:lpstr>
      <vt:lpstr>Surface Plasmon Resonance image, SPRi （表面等离子共振成像，第二代SPR技术）</vt:lpstr>
      <vt:lpstr>PowerPoint 演示文稿</vt:lpstr>
      <vt:lpstr>PowerPoint 演示文稿</vt:lpstr>
      <vt:lpstr>高通量相互作用筛选</vt:lpstr>
      <vt:lpstr>案例4: 亲和力筛选</vt:lpstr>
      <vt:lpstr>PowerPoint 演示文稿</vt:lpstr>
      <vt:lpstr>PowerPoint 演示文稿</vt:lpstr>
      <vt:lpstr>研 究 方 向</vt:lpstr>
      <vt:lpstr>PowerPoint 演示文稿</vt:lpstr>
      <vt:lpstr>PowerPoint 演示文稿</vt:lpstr>
      <vt:lpstr>技术基础：表面等离子共振 （Surface Plasmon Resonance, SPR）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Andrew's WTG</dc:creator>
  <cp:lastModifiedBy>Andrew Meng</cp:lastModifiedBy>
  <cp:revision>770</cp:revision>
  <dcterms:created xsi:type="dcterms:W3CDTF">2017-10-30T02:03:39Z</dcterms:created>
  <dcterms:modified xsi:type="dcterms:W3CDTF">2026-09-05T07:27:51Z</dcterms:modified>
</cp:coreProperties>
</file>