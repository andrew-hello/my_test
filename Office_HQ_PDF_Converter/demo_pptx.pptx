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1516" r:id="rId2"/>
    <p:sldId id="1554" r:id="rId3"/>
    <p:sldId id="1559" r:id="rId4"/>
    <p:sldId id="1566" r:id="rId5"/>
    <p:sldId id="1565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drew Meng" initials="AM" lastIdx="1" clrIdx="0">
    <p:extLst>
      <p:ext uri="{19B8F6BF-5375-455C-9EA6-DF929625EA0E}">
        <p15:presenceInfo xmlns:p15="http://schemas.microsoft.com/office/powerpoint/2012/main" userId="Andrew Men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E45664"/>
    <a:srgbClr val="F2F2F2"/>
    <a:srgbClr val="F1F0F4"/>
    <a:srgbClr val="18A1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80" autoAdjust="0"/>
    <p:restoredTop sz="94842" autoAdjust="0"/>
  </p:normalViewPr>
  <p:slideViewPr>
    <p:cSldViewPr snapToGrid="0">
      <p:cViewPr varScale="1">
        <p:scale>
          <a:sx n="91" d="100"/>
          <a:sy n="91" d="100"/>
        </p:scale>
        <p:origin x="69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553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2DAF34-7A77-4998-9ABB-06C215B9F1FE}" type="datetimeFigureOut">
              <a:rPr lang="zh-CN" altLang="en-US" smtClean="0"/>
              <a:t>2026-09-05 Sat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5B44C2-B7B0-4EF6-A5ED-F9F8999546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5734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3B2D4-76F6-4FA9-934E-C452DA5AED85}" type="datetimeFigureOut">
              <a:rPr lang="zh-CN" altLang="en-US" smtClean="0"/>
              <a:t>2026-09-05 Sat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06449-667C-474D-BDC4-7208F57CFD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91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3B2D4-76F6-4FA9-934E-C452DA5AED85}" type="datetimeFigureOut">
              <a:rPr lang="zh-CN" altLang="en-US" smtClean="0"/>
              <a:t>2026-09-05 Sat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06449-667C-474D-BDC4-7208F57CFD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2700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3B2D4-76F6-4FA9-934E-C452DA5AED85}" type="datetimeFigureOut">
              <a:rPr lang="zh-CN" altLang="en-US" smtClean="0"/>
              <a:t>2026-09-05 Sat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06449-667C-474D-BDC4-7208F57CFD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6862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3B2D4-76F6-4FA9-934E-C452DA5AED85}" type="datetimeFigureOut">
              <a:rPr lang="zh-CN" altLang="en-US" smtClean="0"/>
              <a:t>2026-09-05 Sat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06449-667C-474D-BDC4-7208F57CFD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4454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3B2D4-76F6-4FA9-934E-C452DA5AED85}" type="datetimeFigureOut">
              <a:rPr lang="zh-CN" altLang="en-US" smtClean="0"/>
              <a:t>2026-09-05 Sat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06449-667C-474D-BDC4-7208F57CFD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9725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3B2D4-76F6-4FA9-934E-C452DA5AED85}" type="datetimeFigureOut">
              <a:rPr lang="zh-CN" altLang="en-US" smtClean="0"/>
              <a:t>2026-09-05 Sat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06449-667C-474D-BDC4-7208F57CFD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8236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3B2D4-76F6-4FA9-934E-C452DA5AED85}" type="datetimeFigureOut">
              <a:rPr lang="zh-CN" altLang="en-US" smtClean="0"/>
              <a:t>2026-09-05 Sat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06449-667C-474D-BDC4-7208F57CFD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0773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3B2D4-76F6-4FA9-934E-C452DA5AED85}" type="datetimeFigureOut">
              <a:rPr lang="zh-CN" altLang="en-US" smtClean="0"/>
              <a:t>2026-09-05 Sat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06449-667C-474D-BDC4-7208F57CFD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8240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3B2D4-76F6-4FA9-934E-C452DA5AED85}" type="datetimeFigureOut">
              <a:rPr lang="zh-CN" altLang="en-US" smtClean="0"/>
              <a:t>2026-09-05 Sat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06449-667C-474D-BDC4-7208F57CFD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2710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3B2D4-76F6-4FA9-934E-C452DA5AED85}" type="datetimeFigureOut">
              <a:rPr lang="zh-CN" altLang="en-US" smtClean="0"/>
              <a:t>2026-09-05 Sat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06449-667C-474D-BDC4-7208F57CFD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2039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3B2D4-76F6-4FA9-934E-C452DA5AED85}" type="datetimeFigureOut">
              <a:rPr lang="zh-CN" altLang="en-US" smtClean="0"/>
              <a:t>2026-09-05 Sat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06449-667C-474D-BDC4-7208F57CFD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6559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13B2D4-76F6-4FA9-934E-C452DA5AED85}" type="datetimeFigureOut">
              <a:rPr lang="zh-CN" altLang="en-US" smtClean="0"/>
              <a:t>2026-09-05 Sat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C06449-667C-474D-BDC4-7208F57CFD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6021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>
            <a:extLst>
              <a:ext uri="{FF2B5EF4-FFF2-40B4-BE49-F238E27FC236}">
                <a16:creationId xmlns:a16="http://schemas.microsoft.com/office/drawing/2014/main" id="{BD73D933-267C-2C2E-A1B1-5D64297B453D}"/>
              </a:ext>
            </a:extLst>
          </p:cNvPr>
          <p:cNvSpPr txBox="1"/>
          <p:nvPr/>
        </p:nvSpPr>
        <p:spPr>
          <a:xfrm>
            <a:off x="612541" y="383031"/>
            <a:ext cx="111881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无细胞表达芯片的组成</a:t>
            </a: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EB2CF952-8568-F830-00C6-704A352AAE2B}"/>
              </a:ext>
            </a:extLst>
          </p:cNvPr>
          <p:cNvGrpSpPr/>
          <p:nvPr/>
        </p:nvGrpSpPr>
        <p:grpSpPr>
          <a:xfrm>
            <a:off x="503344" y="1250060"/>
            <a:ext cx="11688656" cy="5012377"/>
            <a:chOff x="470438" y="1396110"/>
            <a:chExt cx="11688656" cy="5012377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2367B527-1246-DFBC-BE07-1A87DE1B9A3D}"/>
                </a:ext>
              </a:extLst>
            </p:cNvPr>
            <p:cNvGrpSpPr/>
            <p:nvPr/>
          </p:nvGrpSpPr>
          <p:grpSpPr>
            <a:xfrm>
              <a:off x="1030805" y="1396110"/>
              <a:ext cx="11128289" cy="3358893"/>
              <a:chOff x="968976" y="1365076"/>
              <a:chExt cx="11128289" cy="3358893"/>
            </a:xfrm>
          </p:grpSpPr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62635523-ECE3-8B20-0331-65EA52B7023C}"/>
                  </a:ext>
                </a:extLst>
              </p:cNvPr>
              <p:cNvSpPr/>
              <p:nvPr/>
            </p:nvSpPr>
            <p:spPr>
              <a:xfrm>
                <a:off x="968976" y="2405790"/>
                <a:ext cx="1398374" cy="1391510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无细胞</a:t>
                </a:r>
                <a:endPara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表达系统</a:t>
                </a:r>
                <a:endPara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（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IVT</a:t>
                </a: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）</a:t>
                </a:r>
                <a:endPara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5" name="组合 4">
                <a:extLst>
                  <a:ext uri="{FF2B5EF4-FFF2-40B4-BE49-F238E27FC236}">
                    <a16:creationId xmlns:a16="http://schemas.microsoft.com/office/drawing/2014/main" id="{68936144-5D44-E2C5-A337-91207220DC2C}"/>
                  </a:ext>
                </a:extLst>
              </p:cNvPr>
              <p:cNvGrpSpPr/>
              <p:nvPr/>
            </p:nvGrpSpPr>
            <p:grpSpPr>
              <a:xfrm>
                <a:off x="3341473" y="3428999"/>
                <a:ext cx="8755792" cy="1294970"/>
                <a:chOff x="3341473" y="3225112"/>
                <a:chExt cx="8755792" cy="1294970"/>
              </a:xfrm>
            </p:grpSpPr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E17705DD-AB37-F47B-ECE6-B0C5A5E10BF7}"/>
                    </a:ext>
                  </a:extLst>
                </p:cNvPr>
                <p:cNvSpPr/>
                <p:nvPr/>
              </p:nvSpPr>
              <p:spPr>
                <a:xfrm>
                  <a:off x="3341473" y="3416230"/>
                  <a:ext cx="1398374" cy="914400"/>
                </a:xfrm>
                <a:prstGeom prst="rect">
                  <a:avLst/>
                </a:prstGeom>
              </p:spPr>
              <p:style>
                <a:lnRef idx="1">
                  <a:schemeClr val="accent5"/>
                </a:lnRef>
                <a:fillRef idx="3">
                  <a:schemeClr val="accent5"/>
                </a:fillRef>
                <a:effectRef idx="2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表达载体</a:t>
                  </a:r>
                  <a:endPara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D691218A-5E58-31C2-5203-CEC22575D890}"/>
                    </a:ext>
                  </a:extLst>
                </p:cNvPr>
                <p:cNvSpPr txBox="1"/>
                <p:nvPr/>
              </p:nvSpPr>
              <p:spPr>
                <a:xfrm>
                  <a:off x="5429764" y="3225112"/>
                  <a:ext cx="6667501" cy="129497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>
                  <a:defPPr>
                    <a:defRPr lang="zh-CN"/>
                  </a:defPPr>
                  <a:lvl1pPr>
                    <a:lnSpc>
                      <a:spcPct val="150000"/>
                    </a:lnSpc>
                    <a:defRPr/>
                  </a:lvl1pPr>
                </a:lstStyle>
                <a:p>
                  <a:r>
                    <a:rPr lang="zh-CN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pT7CFE1-CHis 载体（</a:t>
                  </a:r>
                  <a:r>
                    <a:rPr lang="en-US" altLang="zh-CN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</a:t>
                  </a:r>
                  <a:r>
                    <a:rPr lang="zh-CN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端单标签）</a:t>
                  </a:r>
                  <a:endPara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r>
                    <a:rPr lang="en-US" altLang="zh-CN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pT7CFE1-CGFP-HA-His </a:t>
                  </a:r>
                  <a:r>
                    <a:rPr lang="zh-CN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载体（</a:t>
                  </a:r>
                  <a:r>
                    <a:rPr lang="en-US" altLang="zh-CN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</a:t>
                  </a:r>
                  <a:r>
                    <a:rPr lang="zh-CN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端多标签）</a:t>
                  </a:r>
                </a:p>
                <a:p>
                  <a:r>
                    <a:rPr lang="zh-CN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pT7CFE1-CHi</a:t>
                  </a:r>
                  <a:r>
                    <a:rPr lang="en-US" altLang="zh-CN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s-RADA </a:t>
                  </a:r>
                  <a:r>
                    <a:rPr lang="zh-CN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载体（公司改造，适用于</a:t>
                  </a:r>
                  <a:r>
                    <a:rPr lang="zh-CN" altLang="en-US" b="1" u="sng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芯片</a:t>
                  </a:r>
                  <a:r>
                    <a:rPr lang="zh-CN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固定）</a:t>
                  </a:r>
                  <a:r>
                    <a:rPr lang="zh-CN" altLang="en-US" b="1" dirty="0">
                      <a:solidFill>
                        <a:srgbClr val="C00000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  <a:cs typeface="Times New Roman" panose="02020603050405020304" pitchFamily="18" charset="0"/>
                    </a:rPr>
                    <a:t> √</a:t>
                  </a:r>
                  <a:endPara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6" name="组合 5">
                <a:extLst>
                  <a:ext uri="{FF2B5EF4-FFF2-40B4-BE49-F238E27FC236}">
                    <a16:creationId xmlns:a16="http://schemas.microsoft.com/office/drawing/2014/main" id="{1369D685-D443-FC82-E7D9-DA6026B2A908}"/>
                  </a:ext>
                </a:extLst>
              </p:cNvPr>
              <p:cNvGrpSpPr/>
              <p:nvPr/>
            </p:nvGrpSpPr>
            <p:grpSpPr>
              <a:xfrm>
                <a:off x="3341473" y="1365076"/>
                <a:ext cx="8003090" cy="1294970"/>
                <a:chOff x="3341473" y="1365076"/>
                <a:chExt cx="8003090" cy="1294970"/>
              </a:xfrm>
            </p:grpSpPr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ACD9D098-C853-CC14-A705-EB729E3BECF4}"/>
                    </a:ext>
                  </a:extLst>
                </p:cNvPr>
                <p:cNvSpPr/>
                <p:nvPr/>
              </p:nvSpPr>
              <p:spPr>
                <a:xfrm>
                  <a:off x="3341473" y="1618392"/>
                  <a:ext cx="1398374" cy="914400"/>
                </a:xfrm>
                <a:prstGeom prst="rect">
                  <a:avLst/>
                </a:prstGeom>
              </p:spPr>
              <p:style>
                <a:lnRef idx="1">
                  <a:schemeClr val="accent5"/>
                </a:lnRef>
                <a:fillRef idx="3">
                  <a:schemeClr val="accent5"/>
                </a:fillRef>
                <a:effectRef idx="2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哺乳动物</a:t>
                  </a:r>
                  <a:endPara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r>
                    <a:rPr lang="zh-CN" alt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表达体系</a:t>
                  </a:r>
                  <a:endPara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79647C35-134F-E57D-9EF7-CBC60BF1E32A}"/>
                    </a:ext>
                  </a:extLst>
                </p:cNvPr>
                <p:cNvSpPr txBox="1"/>
                <p:nvPr/>
              </p:nvSpPr>
              <p:spPr>
                <a:xfrm>
                  <a:off x="5429765" y="1365076"/>
                  <a:ext cx="5914798" cy="129497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zh-CN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兔网织红细胞体系（得率低、修饰有限、速度慢）</a:t>
                  </a:r>
                  <a:endParaRPr lang="en-US" altLang="zh-CN" b="1" dirty="0">
                    <a:solidFill>
                      <a:srgbClr val="C00000"/>
                    </a:solidFill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endParaRPr>
                </a:p>
                <a:p>
                  <a:pPr>
                    <a:lnSpc>
                      <a:spcPct val="150000"/>
                    </a:lnSpc>
                  </a:pPr>
                  <a:r>
                    <a:rPr lang="en-US" altLang="zh-CN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CHO</a:t>
                  </a:r>
                  <a:r>
                    <a:rPr lang="zh-CN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裂解体系（得率高、修饰全面、速度慢）</a:t>
                  </a:r>
                  <a:endPara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>
                    <a:lnSpc>
                      <a:spcPct val="150000"/>
                    </a:lnSpc>
                  </a:pPr>
                  <a:r>
                    <a:rPr lang="en-US" altLang="zh-CN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HeLa</a:t>
                  </a:r>
                  <a:r>
                    <a:rPr lang="zh-CN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裂解体系（得率高、修饰全面、速度</a:t>
                  </a:r>
                  <a:r>
                    <a:rPr lang="zh-CN" altLang="en-US" b="1" u="sng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快</a:t>
                  </a:r>
                  <a:r>
                    <a:rPr lang="zh-CN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）</a:t>
                  </a:r>
                  <a:r>
                    <a:rPr lang="zh-CN" altLang="en-US" b="1" dirty="0">
                      <a:solidFill>
                        <a:srgbClr val="C00000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  <a:cs typeface="Times New Roman" panose="02020603050405020304" pitchFamily="18" charset="0"/>
                    </a:rPr>
                    <a:t>√</a:t>
                  </a:r>
                  <a:endPara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7" name="左大括号 6">
                <a:extLst>
                  <a:ext uri="{FF2B5EF4-FFF2-40B4-BE49-F238E27FC236}">
                    <a16:creationId xmlns:a16="http://schemas.microsoft.com/office/drawing/2014/main" id="{6F98E393-4521-88EF-FE4D-886B33B07CE0}"/>
                  </a:ext>
                </a:extLst>
              </p:cNvPr>
              <p:cNvSpPr/>
              <p:nvPr/>
            </p:nvSpPr>
            <p:spPr>
              <a:xfrm>
                <a:off x="2658764" y="2013395"/>
                <a:ext cx="284205" cy="2236572"/>
              </a:xfrm>
              <a:prstGeom prst="leftBrace">
                <a:avLst>
                  <a:gd name="adj1" fmla="val 92957"/>
                  <a:gd name="adj2" fmla="val 50000"/>
                </a:avLst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81D5D251-45BE-B9D6-0A43-299332FC072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50000"/>
                      </a14:imgEffect>
                      <a14:imgEffect>
                        <a14:saturation sat="300000"/>
                      </a14:imgEffect>
                      <a14:imgEffect>
                        <a14:brightnessContrast contrast="-20000"/>
                      </a14:imgEffect>
                    </a14:imgLayer>
                  </a14:imgProps>
                </a:ext>
              </a:extLst>
            </a:blip>
            <a:srcRect b="58135"/>
            <a:stretch/>
          </p:blipFill>
          <p:spPr>
            <a:xfrm>
              <a:off x="3403302" y="5208574"/>
              <a:ext cx="7778750" cy="799181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A1904286-8A35-5294-F419-D655790B07DC}"/>
                </a:ext>
              </a:extLst>
            </p:cNvPr>
            <p:cNvGrpSpPr/>
            <p:nvPr/>
          </p:nvGrpSpPr>
          <p:grpSpPr>
            <a:xfrm>
              <a:off x="3313759" y="6123257"/>
              <a:ext cx="8236177" cy="285230"/>
              <a:chOff x="185737" y="2538612"/>
              <a:chExt cx="8236177" cy="285230"/>
            </a:xfrm>
          </p:grpSpPr>
          <p:pic>
            <p:nvPicPr>
              <p:cNvPr id="16" name="图片 15">
                <a:extLst>
                  <a:ext uri="{FF2B5EF4-FFF2-40B4-BE49-F238E27FC236}">
                    <a16:creationId xmlns:a16="http://schemas.microsoft.com/office/drawing/2014/main" id="{63250507-D37A-EF54-448D-5262B8C328B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t="71115" b="14443"/>
              <a:stretch/>
            </p:blipFill>
            <p:spPr>
              <a:xfrm>
                <a:off x="185737" y="2538612"/>
                <a:ext cx="7778750" cy="275705"/>
              </a:xfrm>
              <a:prstGeom prst="rect">
                <a:avLst/>
              </a:prstGeom>
            </p:spPr>
          </p:pic>
          <p:pic>
            <p:nvPicPr>
              <p:cNvPr id="17" name="图片 16">
                <a:extLst>
                  <a:ext uri="{FF2B5EF4-FFF2-40B4-BE49-F238E27FC236}">
                    <a16:creationId xmlns:a16="http://schemas.microsoft.com/office/drawing/2014/main" id="{95FA71B1-1801-A40D-F7E8-2A1BFDC033A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t="86168" r="91860"/>
              <a:stretch/>
            </p:blipFill>
            <p:spPr>
              <a:xfrm>
                <a:off x="7842129" y="2571390"/>
                <a:ext cx="579785" cy="252452"/>
              </a:xfrm>
              <a:prstGeom prst="rect">
                <a:avLst/>
              </a:prstGeom>
            </p:spPr>
          </p:pic>
        </p:grp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33346A82-A750-4D73-9E42-0839BBDD2A1C}"/>
                </a:ext>
              </a:extLst>
            </p:cNvPr>
            <p:cNvSpPr/>
            <p:nvPr/>
          </p:nvSpPr>
          <p:spPr>
            <a:xfrm>
              <a:off x="1053334" y="5142156"/>
              <a:ext cx="1398374" cy="932016"/>
            </a:xfrm>
            <a:prstGeom prst="rect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>
                <a:lnSpc>
                  <a:spcPct val="150000"/>
                </a:lnSpc>
              </a:pPr>
              <a:r>
                <a:rPr lang="zh-CN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液滴封装技术</a:t>
              </a:r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zh-CN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首创</a:t>
              </a:r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29" name="左大括号 28">
              <a:extLst>
                <a:ext uri="{FF2B5EF4-FFF2-40B4-BE49-F238E27FC236}">
                  <a16:creationId xmlns:a16="http://schemas.microsoft.com/office/drawing/2014/main" id="{82FBEF0A-B6AD-97FF-B800-694F89665F0C}"/>
                </a:ext>
              </a:extLst>
            </p:cNvPr>
            <p:cNvSpPr/>
            <p:nvPr/>
          </p:nvSpPr>
          <p:spPr>
            <a:xfrm>
              <a:off x="470438" y="3257279"/>
              <a:ext cx="284205" cy="2236572"/>
            </a:xfrm>
            <a:prstGeom prst="leftBrace">
              <a:avLst>
                <a:gd name="adj1" fmla="val 92957"/>
                <a:gd name="adj2" fmla="val 50000"/>
              </a:avLst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171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07D849E9-84D6-4214-A0A4-094D84E403F9}"/>
              </a:ext>
            </a:extLst>
          </p:cNvPr>
          <p:cNvGrpSpPr/>
          <p:nvPr/>
        </p:nvGrpSpPr>
        <p:grpSpPr>
          <a:xfrm>
            <a:off x="662153" y="422615"/>
            <a:ext cx="10867694" cy="6012770"/>
            <a:chOff x="662153" y="422615"/>
            <a:chExt cx="10867694" cy="6012770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CFA5FD32-D89B-4231-AD1D-7C9037153D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2153" y="422615"/>
              <a:ext cx="10867694" cy="6012770"/>
            </a:xfrm>
            <a:prstGeom prst="rect">
              <a:avLst/>
            </a:prstGeom>
          </p:spPr>
        </p:pic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7BEDA9CD-E85A-4DAE-B8D7-A5F7729F410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16" t="37925" r="50001" b="44620"/>
            <a:stretch/>
          </p:blipFill>
          <p:spPr>
            <a:xfrm>
              <a:off x="6206066" y="4497022"/>
              <a:ext cx="2019872" cy="489845"/>
            </a:xfrm>
            <a:prstGeom prst="rect">
              <a:avLst/>
            </a:prstGeom>
          </p:spPr>
        </p:pic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9E846516-093A-4A22-8743-140596FBDD38}"/>
              </a:ext>
            </a:extLst>
          </p:cNvPr>
          <p:cNvSpPr txBox="1"/>
          <p:nvPr/>
        </p:nvSpPr>
        <p:spPr>
          <a:xfrm>
            <a:off x="3419016" y="383031"/>
            <a:ext cx="5480618" cy="52322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无细胞表达芯片用于点突变研究</a:t>
            </a:r>
          </a:p>
        </p:txBody>
      </p:sp>
    </p:spTree>
    <p:extLst>
      <p:ext uri="{BB962C8B-B14F-4D97-AF65-F5344CB8AC3E}">
        <p14:creationId xmlns:p14="http://schemas.microsoft.com/office/powerpoint/2010/main" val="2826522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7C76C34C-3004-42A9-A40C-0DFCD19CFEA7}"/>
              </a:ext>
            </a:extLst>
          </p:cNvPr>
          <p:cNvGrpSpPr/>
          <p:nvPr/>
        </p:nvGrpSpPr>
        <p:grpSpPr>
          <a:xfrm>
            <a:off x="5058627" y="1560787"/>
            <a:ext cx="6339965" cy="4339434"/>
            <a:chOff x="4657307" y="1560787"/>
            <a:chExt cx="6339965" cy="4339434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32039F18-D70B-4672-8D9F-7AB0521BA6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57307" y="1560787"/>
              <a:ext cx="2958715" cy="4256689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B305DCD2-782A-44D0-8FA7-855BB211023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37075" y="1582157"/>
              <a:ext cx="2960197" cy="4214123"/>
            </a:xfrm>
            <a:prstGeom prst="rect">
              <a:avLst/>
            </a:prstGeom>
          </p:spPr>
        </p:pic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44CC185C-3EDC-42F6-B434-D4C3756398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48928" y="3408680"/>
              <a:ext cx="5198752" cy="240404"/>
            </a:xfrm>
            <a:prstGeom prst="rect">
              <a:avLst/>
            </a:prstGeom>
          </p:spPr>
        </p:pic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8FB472B7-9B65-4DE8-A3D4-032F3F60B57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88560" y="5620807"/>
              <a:ext cx="5659120" cy="279414"/>
            </a:xfrm>
            <a:prstGeom prst="rect">
              <a:avLst/>
            </a:prstGeom>
          </p:spPr>
        </p:pic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BE2E045B-1E43-48B9-91F2-AFAE2B1BC47D}"/>
              </a:ext>
            </a:extLst>
          </p:cNvPr>
          <p:cNvSpPr txBox="1">
            <a:spLocks/>
          </p:cNvSpPr>
          <p:nvPr/>
        </p:nvSpPr>
        <p:spPr>
          <a:xfrm>
            <a:off x="838200" y="525980"/>
            <a:ext cx="10515600" cy="5524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3200" dirty="0">
                <a:latin typeface="微软雅黑" pitchFamily="34" charset="-122"/>
                <a:ea typeface="微软雅黑" pitchFamily="34" charset="-122"/>
              </a:rPr>
              <a:t>应用案例 </a:t>
            </a:r>
            <a:r>
              <a:rPr lang="en-US" altLang="zh-CN" sz="3200" dirty="0">
                <a:latin typeface="微软雅黑" pitchFamily="34" charset="-122"/>
                <a:ea typeface="微软雅黑" pitchFamily="34" charset="-122"/>
              </a:rPr>
              <a:t>1  ──  </a:t>
            </a:r>
            <a:r>
              <a:rPr lang="zh-CN" altLang="en-US" sz="3200" dirty="0">
                <a:latin typeface="微软雅黑" pitchFamily="34" charset="-122"/>
                <a:ea typeface="微软雅黑" pitchFamily="34" charset="-122"/>
              </a:rPr>
              <a:t>多种蛋白并行验证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6014140-BFE5-416D-91D3-05E15888420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06"/>
          <a:stretch/>
        </p:blipFill>
        <p:spPr>
          <a:xfrm>
            <a:off x="1316421" y="1397947"/>
            <a:ext cx="2899734" cy="422286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6CEF09F0-FB64-4F5E-85C5-EDF57C301077}"/>
              </a:ext>
            </a:extLst>
          </p:cNvPr>
          <p:cNvSpPr/>
          <p:nvPr/>
        </p:nvSpPr>
        <p:spPr>
          <a:xfrm>
            <a:off x="1582748" y="5749349"/>
            <a:ext cx="26853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/>
              <a:t>图</a:t>
            </a:r>
            <a:r>
              <a:rPr lang="en-US" altLang="zh-CN" b="1" dirty="0"/>
              <a:t>1 </a:t>
            </a:r>
            <a:r>
              <a:rPr lang="zh-CN" altLang="en-US" b="1" dirty="0"/>
              <a:t>蛋白点突变设计方案</a:t>
            </a:r>
            <a:endParaRPr lang="en-US" altLang="zh-CN" b="1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2969FB0-4DA0-427E-BDA1-7FEF109C2C6B}"/>
              </a:ext>
            </a:extLst>
          </p:cNvPr>
          <p:cNvSpPr/>
          <p:nvPr/>
        </p:nvSpPr>
        <p:spPr>
          <a:xfrm>
            <a:off x="7358149" y="5749349"/>
            <a:ext cx="19928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/>
              <a:t>图</a:t>
            </a:r>
            <a:r>
              <a:rPr lang="en-US" altLang="zh-CN" b="1" dirty="0"/>
              <a:t>2 </a:t>
            </a:r>
            <a:r>
              <a:rPr lang="zh-CN" altLang="en-US" b="1" dirty="0"/>
              <a:t>芯片打印流程</a:t>
            </a:r>
            <a:endParaRPr lang="en-US" altLang="zh-CN" b="1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7E61234-74A4-4C0F-8634-0998FC1EEB73}"/>
              </a:ext>
            </a:extLst>
          </p:cNvPr>
          <p:cNvSpPr/>
          <p:nvPr/>
        </p:nvSpPr>
        <p:spPr>
          <a:xfrm>
            <a:off x="5556451" y="2859892"/>
            <a:ext cx="20313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/>
              <a:t>第一轮打印：质粒</a:t>
            </a:r>
            <a:endParaRPr lang="en-US" altLang="zh-CN" b="1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D8091EB-267A-472E-A091-B8094CC5C434}"/>
              </a:ext>
            </a:extLst>
          </p:cNvPr>
          <p:cNvSpPr/>
          <p:nvPr/>
        </p:nvSpPr>
        <p:spPr>
          <a:xfrm>
            <a:off x="8693663" y="2859892"/>
            <a:ext cx="2492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/>
              <a:t>第二轮打印：表达体系</a:t>
            </a:r>
            <a:endParaRPr lang="en-US" altLang="zh-CN" b="1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05E9087-65AA-4AFA-A15F-C10CF166AE6F}"/>
              </a:ext>
            </a:extLst>
          </p:cNvPr>
          <p:cNvSpPr/>
          <p:nvPr/>
        </p:nvSpPr>
        <p:spPr>
          <a:xfrm>
            <a:off x="5671869" y="5147534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</a:rPr>
              <a:t>质粒打印后质检</a:t>
            </a:r>
            <a:endParaRPr lang="en-US" altLang="zh-CN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E962F03-83C9-44CE-AC2C-7C80BB7B8223}"/>
              </a:ext>
            </a:extLst>
          </p:cNvPr>
          <p:cNvSpPr/>
          <p:nvPr/>
        </p:nvSpPr>
        <p:spPr>
          <a:xfrm>
            <a:off x="9270743" y="5147534"/>
            <a:ext cx="13388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</a:rPr>
              <a:t>表达前质检</a:t>
            </a:r>
            <a:endParaRPr lang="en-US" altLang="zh-CN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7" name="箭头: 右 26">
            <a:extLst>
              <a:ext uri="{FF2B5EF4-FFF2-40B4-BE49-F238E27FC236}">
                <a16:creationId xmlns:a16="http://schemas.microsoft.com/office/drawing/2014/main" id="{721FCDBF-9CAF-41FD-A0E7-FA3C45FDC708}"/>
              </a:ext>
            </a:extLst>
          </p:cNvPr>
          <p:cNvSpPr/>
          <p:nvPr/>
        </p:nvSpPr>
        <p:spPr>
          <a:xfrm rot="5400000">
            <a:off x="6434788" y="3428603"/>
            <a:ext cx="254220" cy="182629"/>
          </a:xfrm>
          <a:prstGeom prst="rightArrow">
            <a:avLst>
              <a:gd name="adj1" fmla="val 50000"/>
              <a:gd name="adj2" fmla="val 70706"/>
            </a:avLst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箭头: 右 27">
            <a:extLst>
              <a:ext uri="{FF2B5EF4-FFF2-40B4-BE49-F238E27FC236}">
                <a16:creationId xmlns:a16="http://schemas.microsoft.com/office/drawing/2014/main" id="{C36BA838-D79E-416C-82CF-800C13DA939C}"/>
              </a:ext>
            </a:extLst>
          </p:cNvPr>
          <p:cNvSpPr/>
          <p:nvPr/>
        </p:nvSpPr>
        <p:spPr>
          <a:xfrm rot="5400000">
            <a:off x="9918822" y="3428604"/>
            <a:ext cx="254220" cy="182629"/>
          </a:xfrm>
          <a:prstGeom prst="rightArrow">
            <a:avLst>
              <a:gd name="adj1" fmla="val 50000"/>
              <a:gd name="adj2" fmla="val 70706"/>
            </a:avLst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0897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B374A52-6D44-4120-BBBE-9B7C883383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3953" y="1814676"/>
            <a:ext cx="4997018" cy="396619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2BE425D-6C17-4091-83B9-808EDB55034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29711" b="29390"/>
          <a:stretch/>
        </p:blipFill>
        <p:spPr>
          <a:xfrm>
            <a:off x="657302" y="1880715"/>
            <a:ext cx="5183072" cy="3868335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6FA6668-105D-4FBA-B4C4-8AA345F27DBE}"/>
              </a:ext>
            </a:extLst>
          </p:cNvPr>
          <p:cNvSpPr/>
          <p:nvPr/>
        </p:nvSpPr>
        <p:spPr>
          <a:xfrm>
            <a:off x="7254238" y="1310079"/>
            <a:ext cx="32111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/>
              <a:t>表</a:t>
            </a:r>
            <a:r>
              <a:rPr lang="en-US" altLang="zh-CN" b="1" dirty="0"/>
              <a:t>1  </a:t>
            </a:r>
            <a:r>
              <a:rPr lang="zh-CN" altLang="en-US" b="1" dirty="0"/>
              <a:t>蛋白表达量的标定及统计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1A92D9D-5FD6-4321-9967-41D9ECDDB432}"/>
              </a:ext>
            </a:extLst>
          </p:cNvPr>
          <p:cNvSpPr/>
          <p:nvPr/>
        </p:nvSpPr>
        <p:spPr>
          <a:xfrm>
            <a:off x="1098250" y="1310079"/>
            <a:ext cx="430117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/>
              <a:t>图</a:t>
            </a:r>
            <a:r>
              <a:rPr lang="en-US" altLang="zh-CN" b="1" dirty="0"/>
              <a:t>3 </a:t>
            </a:r>
            <a:r>
              <a:rPr lang="zh-CN" altLang="en-US" b="1" dirty="0"/>
              <a:t>蛋白原位表达后芯片表面信号扫描图</a:t>
            </a:r>
            <a:endParaRPr lang="en-US" altLang="zh-CN" b="1" dirty="0"/>
          </a:p>
          <a:p>
            <a:pPr algn="ctr"/>
            <a:r>
              <a:rPr lang="zh-CN" altLang="en-US" b="1" dirty="0"/>
              <a:t>（表达后质检）</a:t>
            </a: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92B66DBA-7663-41C3-839D-ECF0E88CB4A9}"/>
              </a:ext>
            </a:extLst>
          </p:cNvPr>
          <p:cNvSpPr txBox="1">
            <a:spLocks/>
          </p:cNvSpPr>
          <p:nvPr/>
        </p:nvSpPr>
        <p:spPr>
          <a:xfrm>
            <a:off x="838200" y="525980"/>
            <a:ext cx="10515600" cy="5524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3200" dirty="0">
                <a:latin typeface="微软雅黑" pitchFamily="34" charset="-122"/>
                <a:ea typeface="微软雅黑" pitchFamily="34" charset="-122"/>
              </a:rPr>
              <a:t>应用案例 </a:t>
            </a:r>
            <a:r>
              <a:rPr lang="en-US" altLang="zh-CN" sz="3200" dirty="0">
                <a:latin typeface="微软雅黑" pitchFamily="34" charset="-122"/>
                <a:ea typeface="微软雅黑" pitchFamily="34" charset="-122"/>
              </a:rPr>
              <a:t>1  ──  </a:t>
            </a:r>
            <a:r>
              <a:rPr lang="zh-CN" altLang="en-US" sz="3200" dirty="0">
                <a:latin typeface="微软雅黑" pitchFamily="34" charset="-122"/>
                <a:ea typeface="微软雅黑" pitchFamily="34" charset="-122"/>
              </a:rPr>
              <a:t>多种蛋白并行验证</a:t>
            </a:r>
          </a:p>
        </p:txBody>
      </p:sp>
    </p:spTree>
    <p:extLst>
      <p:ext uri="{BB962C8B-B14F-4D97-AF65-F5344CB8AC3E}">
        <p14:creationId xmlns:p14="http://schemas.microsoft.com/office/powerpoint/2010/main" val="3514449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16313E1C-34BC-4163-A4E2-777961B82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319" y="2181818"/>
            <a:ext cx="5202699" cy="351134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08F8B45-BACE-4F36-9516-23E40FE12C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241" y="1965007"/>
            <a:ext cx="4435758" cy="2898488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1B6CFC15-79CE-4208-BEAB-22F324C1B923}"/>
              </a:ext>
            </a:extLst>
          </p:cNvPr>
          <p:cNvSpPr/>
          <p:nvPr/>
        </p:nvSpPr>
        <p:spPr>
          <a:xfrm>
            <a:off x="2513468" y="1471989"/>
            <a:ext cx="17620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/>
              <a:t>图</a:t>
            </a:r>
            <a:r>
              <a:rPr lang="en-US" altLang="zh-CN" b="1" dirty="0"/>
              <a:t>4 </a:t>
            </a:r>
            <a:r>
              <a:rPr lang="zh-CN" altLang="en-US" b="1" dirty="0"/>
              <a:t>亲和力曲线</a:t>
            </a:r>
            <a:endParaRPr lang="en-US" altLang="zh-CN" b="1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24D8243-EA49-417A-9DBA-2F9F3A0B780A}"/>
              </a:ext>
            </a:extLst>
          </p:cNvPr>
          <p:cNvSpPr/>
          <p:nvPr/>
        </p:nvSpPr>
        <p:spPr>
          <a:xfrm>
            <a:off x="8109553" y="1471989"/>
            <a:ext cx="22236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/>
              <a:t>图</a:t>
            </a:r>
            <a:r>
              <a:rPr lang="en-US" altLang="zh-CN" b="1" dirty="0"/>
              <a:t>5 </a:t>
            </a:r>
            <a:r>
              <a:rPr lang="zh-CN" altLang="en-US" b="1" dirty="0"/>
              <a:t>结合信号最大值</a:t>
            </a:r>
            <a:endParaRPr lang="en-US" altLang="zh-CN" b="1" dirty="0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0FA6B45E-3D6E-4916-B2BB-814828A3DE09}"/>
              </a:ext>
            </a:extLst>
          </p:cNvPr>
          <p:cNvSpPr txBox="1">
            <a:spLocks/>
          </p:cNvSpPr>
          <p:nvPr/>
        </p:nvSpPr>
        <p:spPr>
          <a:xfrm>
            <a:off x="838200" y="525980"/>
            <a:ext cx="10515600" cy="5524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3200" dirty="0">
                <a:latin typeface="微软雅黑" pitchFamily="34" charset="-122"/>
                <a:ea typeface="微软雅黑" pitchFamily="34" charset="-122"/>
              </a:rPr>
              <a:t>应用案例 </a:t>
            </a:r>
            <a:r>
              <a:rPr lang="en-US" altLang="zh-CN" sz="3200" dirty="0">
                <a:latin typeface="微软雅黑" pitchFamily="34" charset="-122"/>
                <a:ea typeface="微软雅黑" pitchFamily="34" charset="-122"/>
              </a:rPr>
              <a:t>1  ──  </a:t>
            </a:r>
            <a:r>
              <a:rPr lang="zh-CN" altLang="en-US" sz="3200" dirty="0">
                <a:latin typeface="微软雅黑" pitchFamily="34" charset="-122"/>
                <a:ea typeface="微软雅黑" pitchFamily="34" charset="-122"/>
              </a:rPr>
              <a:t>多种蛋白并行验证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CE52C5C-1B91-4637-8612-33780AAE0E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39" y="4838665"/>
            <a:ext cx="4130783" cy="1206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4504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CB2030"/>
      </a:accent1>
      <a:accent2>
        <a:srgbClr val="D97422"/>
      </a:accent2>
      <a:accent3>
        <a:srgbClr val="F7A51C"/>
      </a:accent3>
      <a:accent4>
        <a:srgbClr val="7CC146"/>
      </a:accent4>
      <a:accent5>
        <a:srgbClr val="18A19D"/>
      </a:accent5>
      <a:accent6>
        <a:srgbClr val="44484C"/>
      </a:accent6>
      <a:hlink>
        <a:srgbClr val="0077B5"/>
      </a:hlink>
      <a:folHlink>
        <a:srgbClr val="BFBFBF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3547</TotalTime>
  <Words>198</Words>
  <Application>Microsoft Office PowerPoint</Application>
  <PresentationFormat>宽屏</PresentationFormat>
  <Paragraphs>29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1" baseType="lpstr">
      <vt:lpstr>等线</vt:lpstr>
      <vt:lpstr>等线 Light</vt:lpstr>
      <vt:lpstr>微软雅黑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Andrew's WTG</dc:creator>
  <cp:lastModifiedBy>Andrew Meng</cp:lastModifiedBy>
  <cp:revision>805</cp:revision>
  <dcterms:created xsi:type="dcterms:W3CDTF">2017-10-30T02:03:39Z</dcterms:created>
  <dcterms:modified xsi:type="dcterms:W3CDTF">2026-09-05T06:57:35Z</dcterms:modified>
</cp:coreProperties>
</file>